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72" r:id="rId5"/>
    <p:sldId id="289" r:id="rId6"/>
    <p:sldId id="273" r:id="rId7"/>
    <p:sldId id="274" r:id="rId8"/>
    <p:sldId id="275" r:id="rId9"/>
    <p:sldId id="276" r:id="rId10"/>
    <p:sldId id="298" r:id="rId11"/>
    <p:sldId id="277" r:id="rId12"/>
    <p:sldId id="301" r:id="rId13"/>
    <p:sldId id="280" r:id="rId14"/>
    <p:sldId id="290" r:id="rId15"/>
    <p:sldId id="291" r:id="rId16"/>
    <p:sldId id="292" r:id="rId17"/>
    <p:sldId id="293" r:id="rId18"/>
    <p:sldId id="281" r:id="rId19"/>
    <p:sldId id="282" r:id="rId20"/>
    <p:sldId id="283" r:id="rId21"/>
    <p:sldId id="284" r:id="rId22"/>
    <p:sldId id="295" r:id="rId23"/>
    <p:sldId id="297" r:id="rId24"/>
    <p:sldId id="304" r:id="rId25"/>
    <p:sldId id="25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 hasCustomPrompt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 hasCustomPrompt="1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 hasCustomPrompt="1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B357F-F854-49D7-B953-62BD9ED594BE}" type="datetime1">
              <a:rPr lang="es-ES_tradnl"/>
            </a:fld>
            <a:endParaRPr lang="es-CO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Curso Bases de Datos</a:t>
            </a:r>
            <a:endParaRPr lang="es-CO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CBEB99-15CF-48C1-9F28-E3506DE1D858}" type="slidenum">
              <a:rPr lang="es-CO" altLang="es-AR"/>
            </a:fld>
            <a:endParaRPr lang="es-CO" altLang="es-AR"/>
          </a:p>
        </p:txBody>
      </p:sp>
    </p:spTree>
  </p:cSld>
  <p:clrMapOvr>
    <a:masterClrMapping/>
  </p:clrMapOvr>
  <p:transition spd="med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 hasCustomPrompt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028E0-47AC-43C2-BF93-8B71A8239E96}" type="datetime1">
              <a:rPr lang="es-ES_tradnl"/>
            </a:fld>
            <a:endParaRPr lang="es-C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CO"/>
              <a:t>Curso Bases de Datos</a:t>
            </a:r>
            <a:endParaRPr lang="es-CO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C3F20C-0226-4D17-8DE8-6C72E10EBCFA}" type="slidenum">
              <a:rPr lang="es-CO" altLang="es-AR"/>
            </a:fld>
            <a:endParaRPr lang="es-CO" altLang="es-AR"/>
          </a:p>
        </p:txBody>
      </p:sp>
    </p:spTree>
  </p:cSld>
  <p:clrMapOvr>
    <a:masterClrMapping/>
  </p:clrMapOvr>
  <p:transition spd="med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FFE6-35ED-44EA-8B97-0818B3961DD0}" type="datetimeFigureOut">
              <a:rPr lang="es-AR" smtClean="0"/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1B5F-CBBD-4E77-9701-40E35D75C5FE}" type="slidenum">
              <a:rPr lang="es-AR" smtClean="0"/>
            </a:fld>
            <a:endParaRPr 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9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6.e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19.xml"/><Relationship Id="rId7" Type="http://schemas.openxmlformats.org/officeDocument/2006/relationships/image" Target="../media/image13.emf"/><Relationship Id="rId6" Type="http://schemas.openxmlformats.org/officeDocument/2006/relationships/image" Target="../media/image12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9.emf"/><Relationship Id="rId1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2.emf"/><Relationship Id="rId1" Type="http://schemas.openxmlformats.org/officeDocument/2006/relationships/oleObject" Target="../embeddings/oleObject18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creativecommons.org/licenses/by-sa/3.0/" TargetMode="External"/><Relationship Id="rId2" Type="http://schemas.openxmlformats.org/officeDocument/2006/relationships/hyperlink" Target="https://es.wikiquote.org/wiki/Pregunta" TargetMode="Externa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28522" y="3248167"/>
            <a:ext cx="5963479" cy="3073235"/>
          </a:xfrm>
        </p:spPr>
        <p:txBody>
          <a:bodyPr>
            <a:normAutofit/>
          </a:bodyPr>
          <a:lstStyle/>
          <a:p>
            <a:r>
              <a:rPr lang="es-AR" dirty="0"/>
              <a:t>ADMINISTRACIÓN DE BASE DE DATOS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47"/>
            <a:ext cx="6228522" cy="6878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6061705F-322C-4464-8280-8ACC5DE0CA7B}" type="slidenum">
              <a:rPr lang="es-CO" altLang="es-AR"/>
            </a:fld>
            <a:endParaRPr lang="es-CO" altLang="es-A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Álgebra Relacional</a:t>
            </a:r>
            <a:endParaRPr lang="es-ES_tradnl" altLang="es-AR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9650" y="1700213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ES_tradnl" altLang="es-AR" sz="23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Permite operar con el Modelo Relacional</a:t>
            </a:r>
            <a:endParaRPr lang="es-ES_tradnl" altLang="es-AR" sz="230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es-ES_tradnl" altLang="es-AR" sz="2300"/>
              <a:t>Conjunto de </a:t>
            </a:r>
            <a:r>
              <a:rPr lang="es-ES_tradnl" altLang="es-AR" sz="2300" b="1"/>
              <a:t>operadores</a:t>
            </a:r>
            <a:r>
              <a:rPr lang="es-ES_tradnl" altLang="es-AR" sz="2300"/>
              <a:t> que toman relaciones como sus </a:t>
            </a:r>
            <a:r>
              <a:rPr lang="es-ES_tradnl" altLang="es-AR" sz="2300" b="1"/>
              <a:t>operandos</a:t>
            </a:r>
            <a:r>
              <a:rPr lang="es-ES_tradnl" altLang="es-AR" sz="2300"/>
              <a:t> y regresan una relación como resultado </a:t>
            </a:r>
            <a:r>
              <a:rPr lang="es-ES_tradnl" altLang="es-AR" sz="2300">
                <a:sym typeface="Wingdings" panose="05000000000000000000" pitchFamily="2" charset="2"/>
              </a:rPr>
              <a:t> El álgebra es </a:t>
            </a:r>
            <a:r>
              <a:rPr lang="es-ES_tradnl" altLang="es-AR" sz="2300" b="1">
                <a:sym typeface="Wingdings" panose="05000000000000000000" pitchFamily="2" charset="2"/>
              </a:rPr>
              <a:t>cerrada</a:t>
            </a:r>
            <a:endParaRPr lang="es-ES_tradnl" altLang="es-AR" sz="2300" b="1"/>
          </a:p>
          <a:p>
            <a:pPr eaLnBrk="1" hangingPunct="1">
              <a:lnSpc>
                <a:spcPct val="80000"/>
              </a:lnSpc>
            </a:pPr>
            <a:r>
              <a:rPr lang="es-ES_tradnl" altLang="es-AR" sz="23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Es un formalismo que permite solicitar información a las Bases de Datos</a:t>
            </a:r>
            <a:endParaRPr lang="es-ES_tradnl" altLang="es-AR" sz="23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es-ES_tradnl" altLang="es-AR" sz="23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Es un lenguaje puro (en general no se implementa directamente)</a:t>
            </a:r>
            <a:endParaRPr lang="es-ES_tradnl" altLang="es-AR" sz="23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es-ES_tradnl" altLang="es-AR" sz="2300"/>
              <a:t>Propuesta por </a:t>
            </a:r>
            <a:r>
              <a:rPr lang="es-AR" altLang="es-AR" b="1"/>
              <a:t>Edgar Frank Codd</a:t>
            </a:r>
            <a:r>
              <a:rPr lang="es-AR" altLang="es-AR"/>
              <a:t> </a:t>
            </a:r>
            <a:endParaRPr lang="es-ES_tradnl" altLang="es-AR" sz="2300"/>
          </a:p>
          <a:p>
            <a:pPr eaLnBrk="1" hangingPunct="1">
              <a:lnSpc>
                <a:spcPct val="80000"/>
              </a:lnSpc>
            </a:pPr>
            <a:r>
              <a:rPr lang="es-ES_tradnl" altLang="es-AR" sz="23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Se usa para la traducción de una consulta SQL y para optimización de consultas</a:t>
            </a:r>
            <a:endParaRPr lang="es-ES_tradnl" altLang="es-AR" sz="23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AA958EB0-C05B-4E4F-A434-6E26F2CF2B07}" type="slidenum">
              <a:rPr lang="es-CO" altLang="es-AR"/>
            </a:fld>
            <a:endParaRPr lang="es-CO" altLang="es-AR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Álgebra Relacional</a:t>
            </a:r>
            <a:endParaRPr lang="es-ES_tradnl" altLang="es-AR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8 operadores iniciales clasificados en 2 grupos:</a:t>
            </a:r>
            <a:endParaRPr lang="es-ES_tradnl" altLang="es-AR"/>
          </a:p>
          <a:p>
            <a:pPr lvl="1" eaLnBrk="1" hangingPunct="1"/>
            <a:r>
              <a:rPr lang="es-ES_tradnl" altLang="es-AR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Tradicionales de la teoría de conjuntos: </a:t>
            </a:r>
            <a:r>
              <a:rPr lang="es-ES_tradnl" altLang="es-AR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Unión, Intersección, Diferencia y Producto Cartesiano</a:t>
            </a:r>
            <a:endParaRPr lang="es-ES_tradnl" altLang="es-AR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lvl="1" eaLnBrk="1" hangingPunct="1"/>
            <a:r>
              <a:rPr lang="es-ES_tradnl" altLang="es-AR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Especiales</a:t>
            </a:r>
            <a:r>
              <a:rPr lang="es-ES_tradnl" altLang="es-AR"/>
              <a:t>: </a:t>
            </a:r>
            <a:r>
              <a:rPr lang="es-ES_tradnl" altLang="es-AR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Restricción (o Selección), Proyección, Reunión (join) y División</a:t>
            </a:r>
            <a:endParaRPr lang="es-ES_tradnl" altLang="es-AR"/>
          </a:p>
          <a:p>
            <a:pPr eaLnBrk="1" hangingPunct="1"/>
            <a:r>
              <a:rPr lang="es-ES_tradnl" altLang="es-AR"/>
              <a:t>Operadores adicionales: </a:t>
            </a:r>
            <a:r>
              <a:rPr lang="es-ES_tradnl" altLang="es-AR" sz="2600"/>
              <a:t>Renombrado, Agrupamiento</a:t>
            </a:r>
            <a:endParaRPr lang="es-ES_tradnl" altLang="es-AR" sz="260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s-ES_tradnl" alt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5EAAB5EA-7BD6-4FBF-BAFA-3982F48A2D4F}" type="slidenum">
              <a:rPr lang="es-CO" altLang="es-AR"/>
            </a:fld>
            <a:endParaRPr lang="es-CO" altLang="es-AR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260350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AR"/>
              <a:t>Álgebra Relacional</a:t>
            </a:r>
            <a:endParaRPr lang="es-ES_tradnl" altLang="es-AR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151313" y="2349501"/>
          <a:ext cx="4356100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Hoja de cálculo" r:id="rId1" imgW="3571875" imgH="1323975" progId="Excel.Sheet.8">
                  <p:embed/>
                </p:oleObj>
              </mc:Choice>
              <mc:Fallback>
                <p:oleObj name="Hoja de cálculo" r:id="rId1" imgW="3571875" imgH="132397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2349501"/>
                        <a:ext cx="4356100" cy="1604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4156075" y="4433888"/>
          <a:ext cx="4364038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Hoja de cálculo" r:id="rId3" imgW="4233545" imgH="1569085" progId="Excel.Sheet.8">
                  <p:embed/>
                </p:oleObj>
              </mc:Choice>
              <mc:Fallback>
                <p:oleObj name="Hoja de cálculo" r:id="rId3" imgW="4233545" imgH="156908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433888"/>
                        <a:ext cx="4364038" cy="15922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911225" y="2349501"/>
            <a:ext cx="3384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algn="ctr">
              <a:spcBef>
                <a:spcPct val="20000"/>
              </a:spcBef>
            </a:pPr>
            <a:r>
              <a:rPr lang="es-ES_tradnl" altLang="es-AR" sz="2000" b="1"/>
              <a:t>ADMINISTRADOR</a:t>
            </a:r>
            <a:endParaRPr lang="es-ES" altLang="es-AR" sz="2000" b="1"/>
          </a:p>
        </p:txBody>
      </p:sp>
      <p:sp>
        <p:nvSpPr>
          <p:cNvPr id="1031" name="Text Box 8"/>
          <p:cNvSpPr txBox="1">
            <a:spLocks noChangeArrowheads="1"/>
          </p:cNvSpPr>
          <p:nvPr/>
        </p:nvSpPr>
        <p:spPr bwMode="auto">
          <a:xfrm>
            <a:off x="2106613" y="4487864"/>
            <a:ext cx="1973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s-ES_tradnl" altLang="es-AR" sz="2000" b="1"/>
              <a:t>PRODUCTOR</a:t>
            </a:r>
            <a:endParaRPr lang="es-ES" altLang="es-AR" sz="2000" b="1"/>
          </a:p>
        </p:txBody>
      </p:sp>
      <p:sp>
        <p:nvSpPr>
          <p:cNvPr id="1032" name="Text Box 10"/>
          <p:cNvSpPr txBox="1">
            <a:spLocks noChangeArrowheads="1"/>
          </p:cNvSpPr>
          <p:nvPr/>
        </p:nvSpPr>
        <p:spPr bwMode="auto">
          <a:xfrm>
            <a:off x="2279651" y="1700213"/>
            <a:ext cx="3268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/>
              <a:t>Sean las relaciones:</a:t>
            </a:r>
            <a:endParaRPr lang="es-ES" altLang="es-AR" sz="2400"/>
          </a:p>
        </p:txBody>
      </p:sp>
      <p:sp>
        <p:nvSpPr>
          <p:cNvPr id="1033" name="AutoShape 11"/>
          <p:cNvSpPr>
            <a:spLocks noChangeArrowheads="1"/>
          </p:cNvSpPr>
          <p:nvPr/>
        </p:nvSpPr>
        <p:spPr bwMode="auto">
          <a:xfrm>
            <a:off x="7032625" y="260351"/>
            <a:ext cx="3024188" cy="1655763"/>
          </a:xfrm>
          <a:prstGeom prst="wedgeRectCallout">
            <a:avLst>
              <a:gd name="adj1" fmla="val -69370"/>
              <a:gd name="adj2" fmla="val 717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es-CO" altLang="es-AR"/>
              <a:t>¡¡REPASO!!</a:t>
            </a:r>
            <a:endParaRPr lang="es-CO" altLang="es-AR"/>
          </a:p>
          <a:p>
            <a:pPr algn="ctr" eaLnBrk="1" hangingPunct="1"/>
            <a:r>
              <a:rPr lang="es-CO" altLang="es-AR"/>
              <a:t>¿Cuál es el esquema de la relación ADMINISTRADOR?</a:t>
            </a:r>
            <a:endParaRPr lang="es-CO" altLang="es-AR"/>
          </a:p>
          <a:p>
            <a:pPr algn="ctr" eaLnBrk="1" hangingPunct="1"/>
            <a:r>
              <a:rPr lang="es-CO" altLang="es-AR"/>
              <a:t>(Código,Nombre,Edad)</a:t>
            </a:r>
            <a:endParaRPr lang="es-CO" alt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C6663A4A-6746-4685-9B5F-8D0CD12CB203}" type="slidenum">
              <a:rPr lang="es-CO" altLang="es-AR"/>
            </a:fld>
            <a:endParaRPr lang="es-CO" altLang="es-A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2098675" y="260351"/>
            <a:ext cx="8001000" cy="1071563"/>
          </a:xfrm>
        </p:spPr>
        <p:txBody>
          <a:bodyPr/>
          <a:lstStyle/>
          <a:p>
            <a:pPr eaLnBrk="1" hangingPunct="1"/>
            <a:r>
              <a:rPr lang="es-ES_tradnl" altLang="es-AR"/>
              <a:t>Restricción o Selección (</a:t>
            </a:r>
            <a:r>
              <a:rPr lang="es-ES_tradnl" altLang="es-AR" sz="5600" b="1">
                <a:latin typeface="Symbol" panose="05050102010706020507" pitchFamily="18" charset="2"/>
              </a:rPr>
              <a:t>s</a:t>
            </a:r>
            <a:r>
              <a:rPr lang="es-ES_tradnl" altLang="es-AR"/>
              <a:t>)</a:t>
            </a:r>
            <a:endParaRPr lang="es-ES_tradnl" altLang="es-AR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7576" y="1628776"/>
            <a:ext cx="5795963" cy="4608513"/>
          </a:xfrm>
        </p:spPr>
        <p:txBody>
          <a:bodyPr/>
          <a:lstStyle/>
          <a:p>
            <a:pPr lvl="1" eaLnBrk="1" hangingPunct="1"/>
            <a:r>
              <a:rPr lang="es-ES_tradnl" altLang="es-AR" sz="2200"/>
              <a:t>El argumento es una relación y una condición</a:t>
            </a:r>
            <a:endParaRPr lang="es-ES_tradnl" altLang="es-AR" sz="2200"/>
          </a:p>
          <a:p>
            <a:pPr lvl="1" eaLnBrk="1" hangingPunct="1"/>
            <a:r>
              <a:rPr lang="es-ES_tradnl" altLang="es-AR" sz="2200"/>
              <a:t>Produce una relación R1 que contiene todas las tuplas de R que cumplen una condición específica</a:t>
            </a:r>
            <a:endParaRPr lang="es-ES_tradnl" altLang="es-AR" sz="2200"/>
          </a:p>
          <a:p>
            <a:pPr lvl="1" eaLnBrk="1" hangingPunct="1"/>
            <a:r>
              <a:rPr lang="es-ES_tradnl" altLang="es-AR" sz="2200"/>
              <a:t>La condición se construye mediante operadores de comparación (=,&lt;,&gt; etc.) y booleanos (AND, OR etc.)</a:t>
            </a:r>
            <a:endParaRPr lang="es-ES_tradnl" altLang="es-AR" sz="2200"/>
          </a:p>
          <a:p>
            <a:pPr lvl="1" eaLnBrk="1" hangingPunct="1"/>
            <a:r>
              <a:rPr lang="es-ES_tradnl" altLang="es-AR" sz="2200"/>
              <a:t>El resultado es una nueva relación cuyo esquema es idéntico al esquema de R</a:t>
            </a:r>
            <a:endParaRPr lang="es-ES_tradnl" altLang="es-AR" sz="2200"/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2208213" y="2286000"/>
            <a:ext cx="2209800" cy="327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6390" name="Rectangle 5"/>
          <p:cNvSpPr>
            <a:spLocks noChangeArrowheads="1"/>
          </p:cNvSpPr>
          <p:nvPr/>
        </p:nvSpPr>
        <p:spPr bwMode="auto">
          <a:xfrm>
            <a:off x="2208213" y="2743200"/>
            <a:ext cx="2209800" cy="228600"/>
          </a:xfrm>
          <a:prstGeom prst="rect">
            <a:avLst/>
          </a:prstGeom>
          <a:solidFill>
            <a:srgbClr val="0099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2208213" y="3276600"/>
            <a:ext cx="2209800" cy="228600"/>
          </a:xfrm>
          <a:prstGeom prst="rect">
            <a:avLst/>
          </a:prstGeom>
          <a:solidFill>
            <a:srgbClr val="0099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2208213" y="3505200"/>
            <a:ext cx="2209800" cy="228600"/>
          </a:xfrm>
          <a:prstGeom prst="rect">
            <a:avLst/>
          </a:prstGeom>
          <a:solidFill>
            <a:srgbClr val="0099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2208213" y="4114800"/>
            <a:ext cx="2209800" cy="228600"/>
          </a:xfrm>
          <a:prstGeom prst="rect">
            <a:avLst/>
          </a:prstGeom>
          <a:solidFill>
            <a:srgbClr val="0099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6394" name="Text Box 12"/>
          <p:cNvSpPr txBox="1">
            <a:spLocks noChangeArrowheads="1"/>
          </p:cNvSpPr>
          <p:nvPr/>
        </p:nvSpPr>
        <p:spPr bwMode="auto">
          <a:xfrm>
            <a:off x="2208214" y="1570038"/>
            <a:ext cx="24479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ES_tradnl" altLang="es-AR" sz="4400" b="1">
                <a:latin typeface="Symbol" panose="05050102010706020507" pitchFamily="18" charset="2"/>
              </a:rPr>
              <a:t>s</a:t>
            </a:r>
            <a:r>
              <a:rPr lang="es-MX" altLang="es-AR" sz="3200" baseline="-25000"/>
              <a:t>condición</a:t>
            </a:r>
            <a:r>
              <a:rPr lang="es-MX" altLang="es-AR" sz="3200"/>
              <a:t>(R)</a:t>
            </a:r>
            <a:endParaRPr lang="es-ES" altLang="es-AR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7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EC215FF5-802C-45E4-9EF1-DE78090B43EB}" type="slidenum">
              <a:rPr lang="es-CO" altLang="es-AR"/>
            </a:fld>
            <a:endParaRPr lang="es-CO" altLang="es-AR"/>
          </a:p>
        </p:txBody>
      </p:sp>
      <p:sp>
        <p:nvSpPr>
          <p:cNvPr id="2055" name="Rectangle 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ES_tradnl" altLang="es-AR"/>
              <a:t>Restricción o Selección (</a:t>
            </a:r>
            <a:r>
              <a:rPr lang="es-ES_tradnl" altLang="es-AR" sz="5600" b="1">
                <a:latin typeface="Symbol" panose="05050102010706020507" pitchFamily="18" charset="2"/>
              </a:rPr>
              <a:t>s</a:t>
            </a:r>
            <a:r>
              <a:rPr lang="es-ES_tradnl" altLang="es-AR"/>
              <a:t>)</a:t>
            </a:r>
            <a:endParaRPr lang="es-ES_tradnl" altLang="es-AR"/>
          </a:p>
        </p:txBody>
      </p:sp>
      <p:sp>
        <p:nvSpPr>
          <p:cNvPr id="2056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s-ES_tradnl" altLang="es-AR"/>
              <a:t> </a:t>
            </a:r>
            <a:r>
              <a:rPr lang="es-ES_tradnl" altLang="es-AR" sz="2800">
                <a:latin typeface="Symbol" panose="05050102010706020507" pitchFamily="18" charset="2"/>
              </a:rPr>
              <a:t>s</a:t>
            </a:r>
            <a:r>
              <a:rPr lang="es-ES_tradnl" altLang="es-AR" sz="2800" baseline="-25000"/>
              <a:t>Edad &gt;= 25</a:t>
            </a:r>
            <a:r>
              <a:rPr lang="es-ES_tradnl" altLang="es-AR" baseline="-25000"/>
              <a:t> </a:t>
            </a:r>
            <a:r>
              <a:rPr lang="es-ES_tradnl" altLang="es-AR"/>
              <a:t>(Administrador):</a:t>
            </a:r>
            <a:endParaRPr lang="es-ES_tradnl" altLang="es-AR"/>
          </a:p>
          <a:p>
            <a:pPr eaLnBrk="1" hangingPunct="1"/>
            <a:endParaRPr lang="es-ES_tradnl" altLang="es-AR"/>
          </a:p>
          <a:p>
            <a:pPr eaLnBrk="1" hangingPunct="1"/>
            <a:endParaRPr lang="es-ES_tradnl" altLang="es-AR"/>
          </a:p>
          <a:p>
            <a:pPr eaLnBrk="1" hangingPunct="1"/>
            <a:endParaRPr lang="es-ES_tradnl" altLang="es-AR" sz="2600">
              <a:latin typeface="Symbol" panose="05050102010706020507" pitchFamily="18" charset="2"/>
            </a:endParaRPr>
          </a:p>
          <a:p>
            <a:pPr eaLnBrk="1" hangingPunct="1">
              <a:buClr>
                <a:schemeClr val="tx1"/>
              </a:buClr>
              <a:buSzPct val="60000"/>
              <a:buFontTx/>
              <a:buNone/>
            </a:pPr>
            <a:endParaRPr lang="es-ES_tradnl" altLang="es-AR" sz="2800">
              <a:latin typeface="Symbol" panose="05050102010706020507" pitchFamily="18" charset="2"/>
            </a:endParaRPr>
          </a:p>
          <a:p>
            <a:pPr eaLnBrk="1" hangingPunct="1">
              <a:buClr>
                <a:schemeClr val="tx1"/>
              </a:buClr>
              <a:buSzPct val="60000"/>
              <a:buFontTx/>
              <a:buNone/>
            </a:pPr>
            <a:r>
              <a:rPr lang="es-ES_tradnl" altLang="es-AR" sz="2800">
                <a:latin typeface="Symbol" panose="05050102010706020507" pitchFamily="18" charset="2"/>
              </a:rPr>
              <a:t>s</a:t>
            </a:r>
            <a:r>
              <a:rPr lang="es-ES_tradnl" altLang="es-AR" sz="2800" baseline="-25000"/>
              <a:t>Código &lt; 5</a:t>
            </a:r>
            <a:r>
              <a:rPr lang="es-ES_tradnl" altLang="es-AR" baseline="-25000"/>
              <a:t> </a:t>
            </a:r>
            <a:r>
              <a:rPr lang="es-ES_tradnl" altLang="es-AR"/>
              <a:t>(Productor):</a:t>
            </a:r>
            <a:endParaRPr lang="es-ES_tradnl" altLang="es-AR"/>
          </a:p>
          <a:p>
            <a:pPr eaLnBrk="1" hangingPunct="1"/>
            <a:endParaRPr lang="es-ES_tradnl" altLang="es-AR"/>
          </a:p>
          <a:p>
            <a:pPr eaLnBrk="1" hangingPunct="1"/>
            <a:endParaRPr lang="es-ES_tradnl" altLang="es-AR"/>
          </a:p>
        </p:txBody>
      </p:sp>
      <p:graphicFrame>
        <p:nvGraphicFramePr>
          <p:cNvPr id="2050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175501" y="1700214"/>
          <a:ext cx="29511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Hoja de cálculo" r:id="rId1" imgW="4233545" imgH="1569085" progId="Excel.Sheet.8">
                  <p:embed/>
                </p:oleObj>
              </mc:Choice>
              <mc:Fallback>
                <p:oleObj name="Hoja de cálculo" r:id="rId1" imgW="4233545" imgH="1569085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1700214"/>
                        <a:ext cx="2951163" cy="10890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2495550" y="2708275"/>
          <a:ext cx="4356100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Hoja de cálculo" r:id="rId3" imgW="3571875" imgH="1019175" progId="Excel.Sheet.8">
                  <p:embed/>
                </p:oleObj>
              </mc:Choice>
              <mc:Fallback>
                <p:oleObj name="Hoja de cálculo" r:id="rId3" imgW="3571875" imgH="101917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708275"/>
                        <a:ext cx="4356100" cy="12334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2081263" y="5418137"/>
          <a:ext cx="43561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Hoja de cálculo" r:id="rId5" imgW="3571875" imgH="685800" progId="Excel.Sheet.8">
                  <p:embed/>
                </p:oleObj>
              </mc:Choice>
              <mc:Fallback>
                <p:oleObj name="Hoja de cálculo" r:id="rId5" imgW="3571875" imgH="6858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63" y="5418137"/>
                        <a:ext cx="4356100" cy="8302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AutoShape 11"/>
          <p:cNvSpPr>
            <a:spLocks noChangeArrowheads="1"/>
          </p:cNvSpPr>
          <p:nvPr/>
        </p:nvSpPr>
        <p:spPr bwMode="auto">
          <a:xfrm rot="4437795">
            <a:off x="7283451" y="2817814"/>
            <a:ext cx="720725" cy="1368425"/>
          </a:xfrm>
          <a:prstGeom prst="curvedLeftArrow">
            <a:avLst>
              <a:gd name="adj1" fmla="val 37974"/>
              <a:gd name="adj2" fmla="val 7594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graphicFrame>
        <p:nvGraphicFramePr>
          <p:cNvPr id="2053" name="Object 1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88164" y="4437064"/>
          <a:ext cx="2986087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Hoja de cálculo" r:id="rId7" imgW="4233545" imgH="1569085" progId="Excel.Sheet.8">
                  <p:embed/>
                </p:oleObj>
              </mc:Choice>
              <mc:Fallback>
                <p:oleObj name="Hoja de cálculo" r:id="rId7" imgW="4233545" imgH="1569085" progId="Excel.Shee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4437064"/>
                        <a:ext cx="2986087" cy="11017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AutoShape 17"/>
          <p:cNvSpPr>
            <a:spLocks noChangeArrowheads="1"/>
          </p:cNvSpPr>
          <p:nvPr/>
        </p:nvSpPr>
        <p:spPr bwMode="auto">
          <a:xfrm rot="4437795">
            <a:off x="7010773" y="5302044"/>
            <a:ext cx="496263" cy="1284547"/>
          </a:xfrm>
          <a:prstGeom prst="curvedLeftArrow">
            <a:avLst>
              <a:gd name="adj1" fmla="val 42902"/>
              <a:gd name="adj2" fmla="val 85804"/>
              <a:gd name="adj3" fmla="val 390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96A7CD25-35A4-4F32-B4E2-2DBE47646E66}" type="slidenum">
              <a:rPr lang="es-CO" altLang="es-AR"/>
            </a:fld>
            <a:endParaRPr lang="es-CO" altLang="es-AR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620713"/>
            <a:ext cx="8001000" cy="792162"/>
          </a:xfrm>
        </p:spPr>
        <p:txBody>
          <a:bodyPr/>
          <a:lstStyle/>
          <a:p>
            <a:pPr eaLnBrk="1" hangingPunct="1"/>
            <a:r>
              <a:rPr lang="es-ES" altLang="es-AR" sz="4400"/>
              <a:t>Proyección (</a:t>
            </a:r>
            <a:r>
              <a:rPr lang="es-ES_tradnl" altLang="es-AR" sz="4400" b="1">
                <a:latin typeface="Symbol" panose="05050102010706020507" pitchFamily="18" charset="2"/>
              </a:rPr>
              <a:t>p</a:t>
            </a:r>
            <a:r>
              <a:rPr lang="es-ES" altLang="es-AR" sz="4400"/>
              <a:t>)</a:t>
            </a:r>
            <a:endParaRPr lang="es-ES" altLang="es-AR" sz="440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3838" y="1844675"/>
            <a:ext cx="4627562" cy="42672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s-ES" altLang="es-AR"/>
              <a:t>Toma como argumento una relación </a:t>
            </a:r>
            <a:r>
              <a:rPr lang="es-ES" altLang="es-AR" b="1"/>
              <a:t>R</a:t>
            </a:r>
            <a:r>
              <a:rPr lang="es-ES" altLang="es-AR"/>
              <a:t> y una lista de atributos</a:t>
            </a:r>
            <a:endParaRPr lang="es-ES" altLang="es-AR"/>
          </a:p>
          <a:p>
            <a:pPr lvl="1" eaLnBrk="1" hangingPunct="1">
              <a:lnSpc>
                <a:spcPct val="90000"/>
              </a:lnSpc>
            </a:pPr>
            <a:r>
              <a:rPr lang="es-ES" altLang="es-AR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Se utiliza para extraer atributos (columnas) de una relación </a:t>
            </a:r>
            <a:r>
              <a:rPr lang="es-ES" altLang="es-AR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</a:t>
            </a:r>
            <a:endParaRPr lang="es-ES" altLang="es-AR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</a:pPr>
            <a:r>
              <a:rPr lang="es-ES" altLang="es-AR"/>
              <a:t>El resultado es una nueva relación </a:t>
            </a:r>
            <a:r>
              <a:rPr lang="es-ES" altLang="es-AR" b="1"/>
              <a:t>R1</a:t>
            </a:r>
            <a:r>
              <a:rPr lang="es-ES" altLang="es-AR"/>
              <a:t> cuyo esquema corresponde a la lista de atributos proyectados</a:t>
            </a:r>
            <a:endParaRPr lang="es-ES" altLang="es-AR"/>
          </a:p>
          <a:p>
            <a:pPr lvl="1" eaLnBrk="1" hangingPunct="1">
              <a:lnSpc>
                <a:spcPct val="90000"/>
              </a:lnSpc>
            </a:pPr>
            <a:r>
              <a:rPr lang="es-ES" altLang="es-AR"/>
              <a:t>En </a:t>
            </a:r>
            <a:r>
              <a:rPr lang="es-ES" altLang="es-AR" b="1"/>
              <a:t>R1</a:t>
            </a:r>
            <a:r>
              <a:rPr lang="es-ES" altLang="es-AR"/>
              <a:t> </a:t>
            </a:r>
            <a:r>
              <a:rPr lang="es-ES" altLang="es-AR" b="1"/>
              <a:t>se eliminan las tuplas duplicadas</a:t>
            </a:r>
            <a:endParaRPr lang="es-ES" altLang="es-AR"/>
          </a:p>
          <a:p>
            <a:pPr lvl="1" eaLnBrk="1" hangingPunct="1">
              <a:lnSpc>
                <a:spcPct val="90000"/>
              </a:lnSpc>
            </a:pPr>
            <a:r>
              <a:rPr lang="es-ES" altLang="es-AR"/>
              <a:t>Se puede extraer más de una columna a la vez</a:t>
            </a:r>
            <a:endParaRPr lang="es-ES" altLang="es-AR"/>
          </a:p>
        </p:txBody>
      </p:sp>
      <p:grpSp>
        <p:nvGrpSpPr>
          <p:cNvPr id="17413" name="Group 8"/>
          <p:cNvGrpSpPr/>
          <p:nvPr/>
        </p:nvGrpSpPr>
        <p:grpSpPr bwMode="auto">
          <a:xfrm>
            <a:off x="2424113" y="2286000"/>
            <a:ext cx="2209800" cy="3276600"/>
            <a:chOff x="567" y="1440"/>
            <a:chExt cx="1392" cy="2064"/>
          </a:xfrm>
        </p:grpSpPr>
        <p:sp>
          <p:nvSpPr>
            <p:cNvPr id="17415" name="Rectangle 4"/>
            <p:cNvSpPr>
              <a:spLocks noChangeArrowheads="1"/>
            </p:cNvSpPr>
            <p:nvPr/>
          </p:nvSpPr>
          <p:spPr bwMode="auto">
            <a:xfrm>
              <a:off x="567" y="1440"/>
              <a:ext cx="1392" cy="206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sp>
          <p:nvSpPr>
            <p:cNvPr id="17416" name="Rectangle 5"/>
            <p:cNvSpPr>
              <a:spLocks noChangeArrowheads="1"/>
            </p:cNvSpPr>
            <p:nvPr/>
          </p:nvSpPr>
          <p:spPr bwMode="auto">
            <a:xfrm>
              <a:off x="855" y="1440"/>
              <a:ext cx="288" cy="2064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sp>
          <p:nvSpPr>
            <p:cNvPr id="17417" name="Rectangle 6"/>
            <p:cNvSpPr>
              <a:spLocks noChangeArrowheads="1"/>
            </p:cNvSpPr>
            <p:nvPr/>
          </p:nvSpPr>
          <p:spPr bwMode="auto">
            <a:xfrm>
              <a:off x="1479" y="1440"/>
              <a:ext cx="288" cy="2064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</p:grp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2135188" y="1525588"/>
            <a:ext cx="33126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ES_tradnl" altLang="es-AR" sz="4000" b="1">
                <a:latin typeface="Symbol" panose="05050102010706020507" pitchFamily="18" charset="2"/>
              </a:rPr>
              <a:t>p</a:t>
            </a:r>
            <a:r>
              <a:rPr lang="es-MX" altLang="es-AR" sz="3200" b="1">
                <a:latin typeface="Symbol" panose="05050102010706020507" pitchFamily="18" charset="2"/>
              </a:rPr>
              <a:t> </a:t>
            </a:r>
            <a:r>
              <a:rPr lang="es-MX" altLang="es-AR" sz="3200" baseline="-25000"/>
              <a:t>Lista Atributos</a:t>
            </a:r>
            <a:r>
              <a:rPr lang="es-MX" altLang="es-AR" sz="3200">
                <a:latin typeface="Times New Roman" panose="02020603050405020304" pitchFamily="18" charset="0"/>
              </a:rPr>
              <a:t> </a:t>
            </a:r>
            <a:r>
              <a:rPr lang="es-MX" altLang="es-AR" sz="3200"/>
              <a:t>(R)</a:t>
            </a:r>
            <a:endParaRPr lang="es-ES" altLang="es-AR"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CF134AC7-97F5-40C1-B51A-319FAD39FA75}" type="slidenum">
              <a:rPr lang="es-CO" altLang="es-AR"/>
            </a:fld>
            <a:endParaRPr lang="es-CO" altLang="es-AR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/>
              <a:t>Proyección (</a:t>
            </a:r>
            <a:r>
              <a:rPr lang="es-ES_tradnl" altLang="es-AR" sz="4900" b="1">
                <a:latin typeface="Symbol" panose="05050102010706020507" pitchFamily="18" charset="2"/>
              </a:rPr>
              <a:t>p</a:t>
            </a:r>
            <a:r>
              <a:rPr lang="es-ES" altLang="es-AR"/>
              <a:t>)</a:t>
            </a:r>
            <a:endParaRPr lang="es-ES" altLang="es-AR"/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47863" y="1916113"/>
            <a:ext cx="5084762" cy="5762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s-ES" altLang="es-AR" sz="2600"/>
              <a:t>  </a:t>
            </a:r>
            <a:r>
              <a:rPr lang="es-ES_tradnl" altLang="es-AR" sz="2600">
                <a:latin typeface="Symbol" panose="05050102010706020507" pitchFamily="18" charset="2"/>
              </a:rPr>
              <a:t>p</a:t>
            </a:r>
            <a:r>
              <a:rPr lang="es-ES_tradnl" altLang="es-AR" sz="2600" baseline="-25000"/>
              <a:t>Código,Edad</a:t>
            </a:r>
            <a:r>
              <a:rPr lang="es-ES_tradnl" altLang="es-AR" sz="2600"/>
              <a:t>(Administrador)</a:t>
            </a:r>
            <a:endParaRPr lang="es-ES_tradnl" altLang="es-AR" sz="26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altLang="es-AR" sz="2600">
              <a:latin typeface="Symbol" panose="05050102010706020507" pitchFamily="18" charset="2"/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7464425" y="2276476"/>
          <a:ext cx="2222500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Hoja de cálculo" r:id="rId1" imgW="2167255" imgH="1569085" progId="Excel.Sheet.8">
                  <p:embed/>
                </p:oleObj>
              </mc:Choice>
              <mc:Fallback>
                <p:oleObj name="Hoja de cálculo" r:id="rId1" imgW="2167255" imgH="156908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2276476"/>
                        <a:ext cx="2222500" cy="1604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6"/>
          <p:cNvGraphicFramePr>
            <a:graphicFrameLocks noChangeAspect="1"/>
          </p:cNvGraphicFramePr>
          <p:nvPr/>
        </p:nvGraphicFramePr>
        <p:xfrm>
          <a:off x="7259639" y="4586288"/>
          <a:ext cx="3228975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Hoja de cálculo" r:id="rId3" imgW="3149600" imgH="1569085" progId="Excel.Sheet.8">
                  <p:embed/>
                </p:oleObj>
              </mc:Choice>
              <mc:Fallback>
                <p:oleObj name="Hoja de cálculo" r:id="rId3" imgW="3149600" imgH="1569085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9" y="4586288"/>
                        <a:ext cx="3228975" cy="16049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1774826" y="4365626"/>
            <a:ext cx="50847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s-ES" altLang="es-AR" sz="2600"/>
              <a:t>   </a:t>
            </a:r>
            <a:r>
              <a:rPr lang="es-ES_tradnl" altLang="es-AR" sz="2600">
                <a:latin typeface="Symbol" panose="05050102010706020507" pitchFamily="18" charset="2"/>
              </a:rPr>
              <a:t>p</a:t>
            </a:r>
            <a:r>
              <a:rPr lang="es-ES_tradnl" altLang="es-AR" sz="2600" baseline="-25000"/>
              <a:t>Código,Nombre</a:t>
            </a:r>
            <a:r>
              <a:rPr lang="es-ES_tradnl" altLang="es-AR" sz="2600"/>
              <a:t>(Productor)</a:t>
            </a:r>
            <a:endParaRPr lang="es-ES" altLang="es-AR" sz="2600">
              <a:latin typeface="Symbol" panose="05050102010706020507" pitchFamily="18" charset="2"/>
            </a:endParaRPr>
          </a:p>
        </p:txBody>
      </p:sp>
      <p:graphicFrame>
        <p:nvGraphicFramePr>
          <p:cNvPr id="3076" name="Object 12"/>
          <p:cNvGraphicFramePr>
            <a:graphicFrameLocks noGrp="1" noChangeAspect="1"/>
          </p:cNvGraphicFramePr>
          <p:nvPr>
            <p:ph sz="half" idx="2"/>
          </p:nvPr>
        </p:nvGraphicFramePr>
        <p:xfrm>
          <a:off x="2279650" y="2565400"/>
          <a:ext cx="356235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Hoja de cálculo" r:id="rId5" imgW="4233545" imgH="1569085" progId="Excel.Sheet.8">
                  <p:embed/>
                </p:oleObj>
              </mc:Choice>
              <mc:Fallback>
                <p:oleObj name="Hoja de cálculo" r:id="rId5" imgW="4233545" imgH="1569085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565400"/>
                        <a:ext cx="3562350" cy="1314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AutoShape 14"/>
          <p:cNvSpPr>
            <a:spLocks noChangeArrowheads="1"/>
          </p:cNvSpPr>
          <p:nvPr/>
        </p:nvSpPr>
        <p:spPr bwMode="auto">
          <a:xfrm rot="1174707">
            <a:off x="5878514" y="2997200"/>
            <a:ext cx="1512887" cy="660400"/>
          </a:xfrm>
          <a:prstGeom prst="curvedUpArrow">
            <a:avLst>
              <a:gd name="adj1" fmla="val 45817"/>
              <a:gd name="adj2" fmla="val 91635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pic>
        <p:nvPicPr>
          <p:cNvPr id="3082" name="Picture 1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4868863"/>
            <a:ext cx="3673475" cy="135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3" name="AutoShape 20"/>
          <p:cNvSpPr>
            <a:spLocks noChangeArrowheads="1"/>
          </p:cNvSpPr>
          <p:nvPr/>
        </p:nvSpPr>
        <p:spPr bwMode="auto">
          <a:xfrm rot="1174707">
            <a:off x="5735639" y="5300663"/>
            <a:ext cx="1512887" cy="660400"/>
          </a:xfrm>
          <a:prstGeom prst="curvedUpArrow">
            <a:avLst>
              <a:gd name="adj1" fmla="val 45817"/>
              <a:gd name="adj2" fmla="val 91635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68E54211-FC6B-4943-9A2E-EB5C37CC14D9}" type="slidenum">
              <a:rPr lang="es-CO" altLang="es-AR"/>
            </a:fld>
            <a:endParaRPr lang="es-CO" altLang="es-AR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/>
              <a:t>Proyección (</a:t>
            </a:r>
            <a:r>
              <a:rPr lang="es-ES_tradnl" altLang="es-AR" sz="4900" b="1">
                <a:latin typeface="Symbol" panose="05050102010706020507" pitchFamily="18" charset="2"/>
              </a:rPr>
              <a:t>p</a:t>
            </a:r>
            <a:r>
              <a:rPr lang="es-ES" altLang="es-AR"/>
              <a:t>)</a:t>
            </a:r>
            <a:endParaRPr lang="es-ES" altLang="es-AR"/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2927351" y="2349500"/>
          <a:ext cx="18192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Hoja de cálculo" r:id="rId1" imgW="2167255" imgH="1569085" progId="Excel.Sheet.8">
                  <p:embed/>
                </p:oleObj>
              </mc:Choice>
              <mc:Fallback>
                <p:oleObj name="Hoja de cálculo" r:id="rId1" imgW="2167255" imgH="156908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349500"/>
                        <a:ext cx="1819275" cy="1314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2208213" y="1773238"/>
            <a:ext cx="4595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/>
              <a:t>Suponga una relación W así:</a:t>
            </a:r>
            <a:endParaRPr lang="es-ES" altLang="es-AR" sz="2400"/>
          </a:p>
        </p:txBody>
      </p:sp>
      <p:sp>
        <p:nvSpPr>
          <p:cNvPr id="4102" name="Text Box 7"/>
          <p:cNvSpPr txBox="1">
            <a:spLocks noChangeArrowheads="1"/>
          </p:cNvSpPr>
          <p:nvPr/>
        </p:nvSpPr>
        <p:spPr bwMode="auto">
          <a:xfrm>
            <a:off x="2855914" y="3716339"/>
            <a:ext cx="2016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ES_tradnl" altLang="es-AR" sz="3200">
                <a:latin typeface="Symbol" panose="05050102010706020507" pitchFamily="18" charset="2"/>
              </a:rPr>
              <a:t>p</a:t>
            </a:r>
            <a:r>
              <a:rPr lang="es-ES_tradnl" altLang="es-AR" sz="2400" baseline="-25000"/>
              <a:t>Edad</a:t>
            </a:r>
            <a:r>
              <a:rPr lang="es-ES_tradnl" altLang="es-AR" sz="2400"/>
              <a:t>(W)</a:t>
            </a:r>
            <a:endParaRPr lang="es-ES_tradnl" altLang="es-AR" sz="2400"/>
          </a:p>
        </p:txBody>
      </p:sp>
      <p:sp>
        <p:nvSpPr>
          <p:cNvPr id="4103" name="Text Box 11"/>
          <p:cNvSpPr txBox="1">
            <a:spLocks noChangeArrowheads="1"/>
          </p:cNvSpPr>
          <p:nvPr/>
        </p:nvSpPr>
        <p:spPr bwMode="auto">
          <a:xfrm>
            <a:off x="2495550" y="2276475"/>
            <a:ext cx="47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>
                <a:latin typeface="Times New Roman" panose="02020603050405020304" pitchFamily="18" charset="0"/>
              </a:rPr>
              <a:t>W</a:t>
            </a:r>
            <a:endParaRPr lang="es-ES" altLang="es-AR" sz="2400">
              <a:latin typeface="Times New Roman" panose="02020603050405020304" pitchFamily="18" charset="0"/>
            </a:endParaRPr>
          </a:p>
        </p:txBody>
      </p:sp>
      <p:graphicFrame>
        <p:nvGraphicFramePr>
          <p:cNvPr id="51228" name="Group 28"/>
          <p:cNvGraphicFramePr>
            <a:graphicFrameLocks noGrp="1"/>
          </p:cNvGraphicFramePr>
          <p:nvPr>
            <p:ph sz="half" idx="2"/>
          </p:nvPr>
        </p:nvGraphicFramePr>
        <p:xfrm>
          <a:off x="7391400" y="3573464"/>
          <a:ext cx="1150938" cy="1463676"/>
        </p:xfrm>
        <a:graphic>
          <a:graphicData uri="http://schemas.openxmlformats.org/drawingml/2006/table">
            <a:tbl>
              <a:tblPr/>
              <a:tblGrid>
                <a:gridCol w="1150938"/>
              </a:tblGrid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s-CO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Edad</a:t>
                      </a:r>
                      <a:endParaRPr kumimoji="0" lang="es-CO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s-CO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30</a:t>
                      </a:r>
                      <a:endParaRPr kumimoji="0" lang="es-CO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s-CO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25</a:t>
                      </a:r>
                      <a:endParaRPr kumimoji="0" lang="es-CO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29" name="Rectangle 29"/>
          <p:cNvSpPr>
            <a:spLocks noChangeArrowheads="1"/>
          </p:cNvSpPr>
          <p:nvPr/>
        </p:nvSpPr>
        <p:spPr bwMode="auto">
          <a:xfrm>
            <a:off x="5303838" y="5084763"/>
            <a:ext cx="446405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s-ES_tradnl" b="1"/>
              <a:t>¡¡ se eliminan </a:t>
            </a:r>
            <a:r>
              <a:rPr lang="es-ES_tradnl" b="1">
                <a:effectLst>
                  <a:outerShdw blurRad="38100" dist="38100" dir="2700000" algn="tl">
                    <a:srgbClr val="C0C0C0"/>
                  </a:outerShdw>
                </a:effectLst>
              </a:rPr>
              <a:t>tuplas </a:t>
            </a:r>
            <a:r>
              <a:rPr lang="es-ES_tradnl" b="1"/>
              <a:t>repetidas !!</a:t>
            </a:r>
            <a:endParaRPr lang="es-MX" b="1"/>
          </a:p>
        </p:txBody>
      </p:sp>
      <p:sp>
        <p:nvSpPr>
          <p:cNvPr id="4115" name="Text Box 33"/>
          <p:cNvSpPr txBox="1">
            <a:spLocks noChangeArrowheads="1"/>
          </p:cNvSpPr>
          <p:nvPr/>
        </p:nvSpPr>
        <p:spPr bwMode="auto">
          <a:xfrm>
            <a:off x="4800601" y="3789363"/>
            <a:ext cx="24368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s-CO" altLang="es-AR" b="1"/>
              <a:t>El resultado será:</a:t>
            </a:r>
            <a:endParaRPr lang="es-CO" altLang="es-AR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360AB233-E1D3-4CAE-BC9C-1BFA2ECC6FE3}" type="slidenum">
              <a:rPr lang="es-CO" altLang="es-AR"/>
            </a:fld>
            <a:endParaRPr lang="es-CO" altLang="es-AR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620714"/>
            <a:ext cx="7772400" cy="782637"/>
          </a:xfrm>
        </p:spPr>
        <p:txBody>
          <a:bodyPr/>
          <a:lstStyle/>
          <a:p>
            <a:pPr eaLnBrk="1" hangingPunct="1">
              <a:defRPr/>
            </a:pPr>
            <a:r>
              <a:rPr lang="es-ES"/>
              <a:t>Producto Cartesiano: R1 </a:t>
            </a:r>
            <a:r>
              <a:rPr lang="es-ES"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es-ES"/>
              <a:t>  R2</a:t>
            </a:r>
            <a:endParaRPr lang="es-E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1700214"/>
            <a:ext cx="9144000" cy="4752975"/>
          </a:xfrm>
        </p:spPr>
        <p:txBody>
          <a:bodyPr/>
          <a:lstStyle/>
          <a:p>
            <a:pPr lvl="1" eaLnBrk="1" hangingPunct="1"/>
            <a:r>
              <a:rPr lang="es-ES" altLang="es-AR" sz="2200"/>
              <a:t>Toma como argumentos dos relaciones R1 y R2</a:t>
            </a:r>
            <a:endParaRPr lang="es-ES" altLang="es-AR" sz="2200"/>
          </a:p>
          <a:p>
            <a:pPr lvl="1" eaLnBrk="1" hangingPunct="1"/>
            <a:r>
              <a:rPr lang="es-ES" altLang="es-AR" sz="22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 como resultado una relación R3 cuyo esquema consta tanto de los atributos de R1 como de los atributos de R2</a:t>
            </a:r>
            <a:endParaRPr lang="es-ES" altLang="es-AR" sz="22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lvl="1" eaLnBrk="1" hangingPunct="1"/>
            <a:r>
              <a:rPr lang="es-ES" altLang="es-AR" sz="2200"/>
              <a:t>Los esquemas de R1 y R2 deben ser disjuntos, es decir l</a:t>
            </a:r>
            <a:r>
              <a:rPr lang="es-MX" altLang="es-AR" sz="2200"/>
              <a:t>os esquemas de </a:t>
            </a:r>
            <a:r>
              <a:rPr lang="es-ES" altLang="es-AR" sz="2200"/>
              <a:t>R1</a:t>
            </a:r>
            <a:r>
              <a:rPr lang="es-MX" altLang="es-AR" sz="2200"/>
              <a:t> y </a:t>
            </a:r>
            <a:r>
              <a:rPr lang="es-ES" altLang="es-AR" sz="2200"/>
              <a:t>R2</a:t>
            </a:r>
            <a:r>
              <a:rPr lang="es-MX" altLang="es-AR" sz="2200"/>
              <a:t> </a:t>
            </a:r>
            <a:r>
              <a:rPr lang="es-MX" altLang="es-AR" sz="2200" b="1"/>
              <a:t>no pueden</a:t>
            </a:r>
            <a:r>
              <a:rPr lang="es-MX" altLang="es-AR" sz="2200"/>
              <a:t> tener nombres de atributos en común ¿por qué?</a:t>
            </a:r>
            <a:endParaRPr lang="es-MX" altLang="es-AR" sz="2200"/>
          </a:p>
          <a:p>
            <a:pPr lvl="1" eaLnBrk="1" hangingPunct="1"/>
            <a:r>
              <a:rPr lang="es-MX" altLang="es-AR" sz="2200"/>
              <a:t>Se debe usar un alias (mediante el operador </a:t>
            </a:r>
            <a:r>
              <a:rPr lang="es-ES_tradnl" altLang="es-AR" sz="2800" b="1" i="1">
                <a:latin typeface="Symbol" panose="05050102010706020507" pitchFamily="18" charset="2"/>
              </a:rPr>
              <a:t>r</a:t>
            </a:r>
            <a:r>
              <a:rPr lang="es-MX" altLang="es-AR" sz="2200"/>
              <a:t>) si los esquemas no son disjuntos</a:t>
            </a:r>
            <a:endParaRPr lang="es-ES" altLang="es-AR" sz="2200"/>
          </a:p>
          <a:p>
            <a:pPr lvl="1" eaLnBrk="1" hangingPunct="1"/>
            <a:r>
              <a:rPr lang="es-ES" altLang="es-AR" sz="2200"/>
              <a:t>R3 contiene todas las tuplas resultantes de la concatenación de cada tupla de R1</a:t>
            </a:r>
            <a:r>
              <a:rPr lang="es-ES" altLang="es-AR" sz="2200" baseline="-25000"/>
              <a:t> </a:t>
            </a:r>
            <a:r>
              <a:rPr lang="es-ES" altLang="es-AR" sz="2200"/>
              <a:t>con cada una de las tuplas de R2</a:t>
            </a:r>
            <a:endParaRPr lang="es-ES" altLang="es-AR" sz="2200" baseline="-25000"/>
          </a:p>
        </p:txBody>
      </p:sp>
      <p:sp>
        <p:nvSpPr>
          <p:cNvPr id="26632" name="AutoShape 8"/>
          <p:cNvSpPr>
            <a:spLocks noChangeArrowheads="1"/>
          </p:cNvSpPr>
          <p:nvPr/>
        </p:nvSpPr>
        <p:spPr bwMode="auto">
          <a:xfrm>
            <a:off x="7259036" y="4496904"/>
            <a:ext cx="2952750" cy="431800"/>
          </a:xfrm>
          <a:prstGeom prst="wedgeRectCallout">
            <a:avLst>
              <a:gd name="adj1" fmla="val -36305"/>
              <a:gd name="adj2" fmla="val -826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es-MX" altLang="es-AR" sz="1400" b="1"/>
              <a:t>Renombrado de atributos</a:t>
            </a:r>
            <a:r>
              <a:rPr lang="es-MX" altLang="es-AR" b="1"/>
              <a:t> </a:t>
            </a:r>
            <a:endParaRPr lang="es-CO" altLang="es-AR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E4F21EDE-0E8E-4886-92B0-4FD42DFFD0D3}" type="slidenum">
              <a:rPr lang="es-CO" altLang="es-AR"/>
            </a:fld>
            <a:endParaRPr lang="es-CO" altLang="es-AR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2227263" y="2116138"/>
            <a:ext cx="2057400" cy="2362200"/>
          </a:xfrm>
          <a:prstGeom prst="rect">
            <a:avLst/>
          </a:prstGeom>
          <a:solidFill>
            <a:srgbClr val="008080"/>
          </a:solidFill>
          <a:ln w="38100">
            <a:solidFill>
              <a:srgbClr val="FFCC00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Unión: R1</a:t>
            </a:r>
            <a:r>
              <a:rPr lang="es-ES_tradnl" altLang="es-AR" baseline="-25000"/>
              <a:t> </a:t>
            </a:r>
            <a:r>
              <a:rPr lang="es-ES_tradnl" altLang="es-AR" b="1">
                <a:latin typeface="Symbol" panose="05050102010706020507" pitchFamily="18" charset="2"/>
              </a:rPr>
              <a:t>È</a:t>
            </a:r>
            <a:r>
              <a:rPr lang="es-ES_tradnl" altLang="es-AR"/>
              <a:t> R2</a:t>
            </a:r>
            <a:endParaRPr lang="es-ES" altLang="es-AR"/>
          </a:p>
        </p:txBody>
      </p:sp>
      <p:sp>
        <p:nvSpPr>
          <p:cNvPr id="1946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943475" y="1700214"/>
            <a:ext cx="5651500" cy="4465637"/>
          </a:xfrm>
        </p:spPr>
        <p:txBody>
          <a:bodyPr/>
          <a:lstStyle/>
          <a:p>
            <a:pPr eaLnBrk="1" hangingPunct="1"/>
            <a:r>
              <a:rPr lang="es-ES" altLang="es-AR" sz="2800"/>
              <a:t>Toma como argumentos dos relaciones R1 y R2 con esquemas idénticos</a:t>
            </a:r>
            <a:endParaRPr lang="es-ES" altLang="es-AR" sz="2800"/>
          </a:p>
          <a:p>
            <a:pPr eaLnBrk="1" hangingPunct="1"/>
            <a:r>
              <a:rPr lang="es-ES" altLang="es-AR" sz="2800"/>
              <a:t>Retorna una relación R3 con el mismo esquema de R1 y R2 que contiene todas la tuplas de R1 y todas las de R2, eliminando tuplas repetidas</a:t>
            </a:r>
            <a:r>
              <a:rPr lang="es-ES" altLang="es-AR"/>
              <a:t> </a:t>
            </a:r>
            <a:endParaRPr lang="es-ES" altLang="es-AR"/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auto">
          <a:xfrm>
            <a:off x="2241550" y="3659188"/>
            <a:ext cx="2057400" cy="2362200"/>
          </a:xfrm>
          <a:prstGeom prst="rect">
            <a:avLst/>
          </a:prstGeom>
          <a:solidFill>
            <a:srgbClr val="008080"/>
          </a:solidFill>
          <a:ln w="38100">
            <a:solidFill>
              <a:srgbClr val="CC3300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2135188" y="172085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R1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4295775" y="347662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R2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>
            <a:off x="2247901" y="4356100"/>
            <a:ext cx="2016125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9C7050CA-B521-48B0-BEEB-EE1047E16F16}" type="slidenum">
              <a:rPr lang="es-CO" altLang="es-AR"/>
            </a:fld>
            <a:endParaRPr lang="es-CO" altLang="es-AR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Ejemplo:</a:t>
            </a:r>
            <a:endParaRPr lang="es-ES" altLang="es-AR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Administrador </a:t>
            </a:r>
            <a:r>
              <a:rPr lang="es-ES_tradnl" altLang="es-AR" b="1">
                <a:latin typeface="Symbol" panose="05050102010706020507" pitchFamily="18" charset="2"/>
              </a:rPr>
              <a:t>È</a:t>
            </a:r>
            <a:r>
              <a:rPr lang="es-ES_tradnl" altLang="es-AR"/>
              <a:t> Productor:</a:t>
            </a:r>
            <a:endParaRPr lang="es-ES_tradnl" altLang="es-AR"/>
          </a:p>
          <a:p>
            <a:pPr eaLnBrk="1" hangingPunct="1"/>
            <a:endParaRPr lang="es-ES" altLang="es-AR"/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3732766" y="3002723"/>
          <a:ext cx="4357687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Hoja de cálculo" r:id="rId1" imgW="4233545" imgH="2359660" progId="Excel.Sheet.8">
                  <p:embed/>
                </p:oleObj>
              </mc:Choice>
              <mc:Fallback>
                <p:oleObj name="Hoja de cálculo" r:id="rId1" imgW="4233545" imgH="235966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766" y="3002723"/>
                        <a:ext cx="4357687" cy="2417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6E397201-71CB-44F4-BF02-AE28407A4716}" type="slidenum">
              <a:rPr lang="es-CO" altLang="es-AR"/>
            </a:fld>
            <a:endParaRPr lang="es-CO" altLang="es-A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Intersección: R1 </a:t>
            </a:r>
            <a:r>
              <a:rPr lang="es-ES_tradnl" altLang="es-AR" sz="4300" b="1">
                <a:latin typeface="Symbol" panose="05050102010706020507" pitchFamily="18" charset="2"/>
                <a:sym typeface="Symbol" panose="05050102010706020507" pitchFamily="18" charset="2"/>
              </a:rPr>
              <a:t></a:t>
            </a:r>
            <a:r>
              <a:rPr lang="es-ES_tradnl" altLang="es-AR"/>
              <a:t> R2</a:t>
            </a:r>
            <a:endParaRPr lang="es-ES" altLang="es-AR" baseline="-25000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07014" y="1752600"/>
            <a:ext cx="4784725" cy="4267200"/>
          </a:xfrm>
        </p:spPr>
        <p:txBody>
          <a:bodyPr>
            <a:normAutofit lnSpcReduction="10000"/>
          </a:bodyPr>
          <a:lstStyle/>
          <a:p>
            <a:pPr lvl="1" eaLnBrk="1" hangingPunct="1"/>
            <a:endParaRPr lang="es-ES" altLang="es-AR" sz="2200"/>
          </a:p>
          <a:p>
            <a:pPr eaLnBrk="1" hangingPunct="1"/>
            <a:r>
              <a:rPr lang="es-ES" altLang="es-AR" sz="2600"/>
              <a:t>Toma como argumentos dos relaciones R1 y R2 con esquemas idénticos</a:t>
            </a:r>
            <a:endParaRPr lang="es-ES" altLang="es-AR" sz="2600"/>
          </a:p>
          <a:p>
            <a:pPr eaLnBrk="1" hangingPunct="1"/>
            <a:r>
              <a:rPr lang="es-ES" altLang="es-AR" sz="2600"/>
              <a:t>Retorna una relación R3 con el mismo esquema de R1 y R2 que contiene todas las tuplas que aparecen tanto en R1 como en R2</a:t>
            </a:r>
            <a:endParaRPr lang="es-ES" altLang="es-AR" sz="2600"/>
          </a:p>
        </p:txBody>
      </p:sp>
      <p:sp>
        <p:nvSpPr>
          <p:cNvPr id="20485" name="Rectangle 10"/>
          <p:cNvSpPr>
            <a:spLocks noChangeArrowheads="1"/>
          </p:cNvSpPr>
          <p:nvPr/>
        </p:nvSpPr>
        <p:spPr bwMode="auto">
          <a:xfrm>
            <a:off x="2227263" y="2116138"/>
            <a:ext cx="2057400" cy="2362200"/>
          </a:xfrm>
          <a:prstGeom prst="rect">
            <a:avLst/>
          </a:prstGeom>
          <a:noFill/>
          <a:ln w="38100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20486" name="Rectangle 11"/>
          <p:cNvSpPr>
            <a:spLocks noChangeArrowheads="1"/>
          </p:cNvSpPr>
          <p:nvPr/>
        </p:nvSpPr>
        <p:spPr bwMode="auto">
          <a:xfrm>
            <a:off x="2257425" y="3659188"/>
            <a:ext cx="2057400" cy="2362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20487" name="Text Box 12"/>
          <p:cNvSpPr txBox="1">
            <a:spLocks noChangeArrowheads="1"/>
          </p:cNvSpPr>
          <p:nvPr/>
        </p:nvSpPr>
        <p:spPr bwMode="auto">
          <a:xfrm>
            <a:off x="2135188" y="172085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R1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20488" name="Text Box 13"/>
          <p:cNvSpPr txBox="1">
            <a:spLocks noChangeArrowheads="1"/>
          </p:cNvSpPr>
          <p:nvPr/>
        </p:nvSpPr>
        <p:spPr bwMode="auto">
          <a:xfrm>
            <a:off x="4295775" y="347662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R2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20489" name="Rectangle 14"/>
          <p:cNvSpPr>
            <a:spLocks noChangeArrowheads="1"/>
          </p:cNvSpPr>
          <p:nvPr/>
        </p:nvSpPr>
        <p:spPr bwMode="auto">
          <a:xfrm>
            <a:off x="2255839" y="3700463"/>
            <a:ext cx="2016125" cy="736600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BD3EEF7D-C4B5-4C77-9695-32E0636614F6}" type="slidenum">
              <a:rPr lang="es-CO" altLang="es-AR"/>
            </a:fld>
            <a:endParaRPr lang="es-CO" altLang="es-AR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Ejemplo</a:t>
            </a:r>
            <a:endParaRPr lang="es-ES" altLang="es-AR"/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Administrador </a:t>
            </a:r>
            <a:r>
              <a:rPr lang="es-ES_tradnl" altLang="es-AR" b="1">
                <a:latin typeface="Symbol" panose="05050102010706020507" pitchFamily="18" charset="2"/>
              </a:rPr>
              <a:t>Ç</a:t>
            </a:r>
            <a:r>
              <a:rPr lang="es-ES_tradnl" altLang="es-AR"/>
              <a:t> Productor</a:t>
            </a:r>
            <a:endParaRPr lang="es-ES_tradnl" altLang="es-AR"/>
          </a:p>
          <a:p>
            <a:pPr eaLnBrk="1" hangingPunct="1"/>
            <a:endParaRPr lang="es-ES" altLang="es-AR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432175" y="2636838"/>
          <a:ext cx="4357688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Hoja de cálculo" r:id="rId1" imgW="4233545" imgH="812800" progId="Excel.Sheet.8">
                  <p:embed/>
                </p:oleObj>
              </mc:Choice>
              <mc:Fallback>
                <p:oleObj name="Hoja de cálculo" r:id="rId1" imgW="4233545" imgH="8128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636838"/>
                        <a:ext cx="4357688" cy="8302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Marcador de fecha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743C003C-13DA-41D3-8160-94239A482A17}" type="datetime1">
              <a:rPr lang="es-ES_tradnl" altLang="es-AR" smtClean="0"/>
            </a:fld>
            <a:endParaRPr lang="es-CO" altLang="es-AR"/>
          </a:p>
        </p:txBody>
      </p:sp>
      <p:sp>
        <p:nvSpPr>
          <p:cNvPr id="2150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2789A698-5EE1-45C4-B600-01D7335436A7}" type="slidenum">
              <a:rPr lang="es-CO" altLang="es-AR"/>
            </a:fld>
            <a:endParaRPr lang="es-CO" altLang="es-AR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sz="4200"/>
              <a:t>Diferencia: </a:t>
            </a:r>
            <a:r>
              <a:rPr lang="es-ES_tradnl" altLang="es-AR"/>
              <a:t>R</a:t>
            </a:r>
            <a:r>
              <a:rPr lang="es-ES_tradnl" altLang="es-AR" baseline="-25000"/>
              <a:t>1 </a:t>
            </a:r>
            <a:r>
              <a:rPr lang="es-ES_tradnl" altLang="es-AR">
                <a:latin typeface="Symbol" panose="05050102010706020507" pitchFamily="18" charset="2"/>
              </a:rPr>
              <a:t>-</a:t>
            </a:r>
            <a:r>
              <a:rPr lang="es-ES_tradnl" altLang="es-AR"/>
              <a:t> R</a:t>
            </a:r>
            <a:r>
              <a:rPr lang="es-ES_tradnl" altLang="es-AR" baseline="-25000"/>
              <a:t>2</a:t>
            </a:r>
            <a:endParaRPr lang="es-ES" altLang="es-AR" sz="4200"/>
          </a:p>
        </p:txBody>
      </p:sp>
      <p:sp>
        <p:nvSpPr>
          <p:cNvPr id="2150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07013" y="1752600"/>
            <a:ext cx="4965700" cy="42672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s-ES" altLang="es-AR" sz="2800"/>
              <a:t>Toma como argumento dos relaciones R1 y R2 con esquemas idénticos</a:t>
            </a:r>
            <a:endParaRPr lang="es-ES" altLang="es-AR" sz="3200"/>
          </a:p>
          <a:p>
            <a:pPr eaLnBrk="1" hangingPunct="1"/>
            <a:r>
              <a:rPr lang="es-ES" altLang="es-AR" sz="2800"/>
              <a:t>Retorna una relación R3 con el mismo esquema de R1 y R2  que contiene todas las tuplas que aparecen en R1 pero no en R2</a:t>
            </a:r>
            <a:endParaRPr lang="es-ES" altLang="es-AR" sz="2800"/>
          </a:p>
        </p:txBody>
      </p:sp>
      <p:sp>
        <p:nvSpPr>
          <p:cNvPr id="21510" name="Rectangle 10"/>
          <p:cNvSpPr>
            <a:spLocks noChangeArrowheads="1"/>
          </p:cNvSpPr>
          <p:nvPr/>
        </p:nvSpPr>
        <p:spPr bwMode="auto">
          <a:xfrm>
            <a:off x="2227263" y="2116138"/>
            <a:ext cx="2057400" cy="2362200"/>
          </a:xfrm>
          <a:prstGeom prst="rect">
            <a:avLst/>
          </a:prstGeom>
          <a:noFill/>
          <a:ln w="38100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21511" name="Rectangle 11"/>
          <p:cNvSpPr>
            <a:spLocks noChangeArrowheads="1"/>
          </p:cNvSpPr>
          <p:nvPr/>
        </p:nvSpPr>
        <p:spPr bwMode="auto">
          <a:xfrm>
            <a:off x="2257425" y="3659188"/>
            <a:ext cx="2057400" cy="2362200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21512" name="Text Box 12"/>
          <p:cNvSpPr txBox="1">
            <a:spLocks noChangeArrowheads="1"/>
          </p:cNvSpPr>
          <p:nvPr/>
        </p:nvSpPr>
        <p:spPr bwMode="auto">
          <a:xfrm>
            <a:off x="2135188" y="172085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R1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21513" name="Text Box 13"/>
          <p:cNvSpPr txBox="1">
            <a:spLocks noChangeArrowheads="1"/>
          </p:cNvSpPr>
          <p:nvPr/>
        </p:nvSpPr>
        <p:spPr bwMode="auto">
          <a:xfrm>
            <a:off x="4295775" y="347662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CO" altLang="es-AR" sz="2400">
                <a:latin typeface="Times New Roman" panose="02020603050405020304" pitchFamily="18" charset="0"/>
              </a:rPr>
              <a:t>R2</a:t>
            </a:r>
            <a:endParaRPr lang="es-CO" altLang="es-AR" sz="2400">
              <a:latin typeface="Times New Roman" panose="02020603050405020304" pitchFamily="18" charset="0"/>
            </a:endParaRPr>
          </a:p>
        </p:txBody>
      </p:sp>
      <p:sp>
        <p:nvSpPr>
          <p:cNvPr id="21514" name="Rectangle 14"/>
          <p:cNvSpPr>
            <a:spLocks noChangeArrowheads="1"/>
          </p:cNvSpPr>
          <p:nvPr/>
        </p:nvSpPr>
        <p:spPr bwMode="auto">
          <a:xfrm>
            <a:off x="2255839" y="2133600"/>
            <a:ext cx="2016125" cy="1511300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6826D856-360E-44F5-8A21-2B00BF68C5A7}" type="slidenum">
              <a:rPr lang="es-CO" altLang="es-AR"/>
            </a:fld>
            <a:endParaRPr lang="es-CO" altLang="es-AR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997953" y="512552"/>
            <a:ext cx="9905998" cy="1478570"/>
          </a:xfrm>
        </p:spPr>
        <p:txBody>
          <a:bodyPr/>
          <a:lstStyle/>
          <a:p>
            <a:pPr eaLnBrk="1" hangingPunct="1"/>
            <a:r>
              <a:rPr lang="es-ES_tradnl" altLang="es-AR"/>
              <a:t>Ejemplo</a:t>
            </a:r>
            <a:endParaRPr lang="es-ES" altLang="es-AR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866" y="1705768"/>
            <a:ext cx="9905999" cy="3541714"/>
          </a:xfrm>
        </p:spPr>
        <p:txBody>
          <a:bodyPr/>
          <a:lstStyle/>
          <a:p>
            <a:pPr eaLnBrk="1" hangingPunct="1"/>
            <a:r>
              <a:rPr lang="es-ES_tradnl" altLang="es-AR" dirty="0"/>
              <a:t>Administrador </a:t>
            </a:r>
            <a:r>
              <a:rPr lang="es-ES_tradnl" altLang="es-AR" dirty="0">
                <a:latin typeface="Symbol" panose="05050102010706020507" pitchFamily="18" charset="2"/>
              </a:rPr>
              <a:t>-</a:t>
            </a:r>
            <a:r>
              <a:rPr lang="es-ES_tradnl" altLang="es-AR" dirty="0"/>
              <a:t> Productor:</a:t>
            </a:r>
            <a:endParaRPr lang="es-ES_tradnl" altLang="es-AR" dirty="0"/>
          </a:p>
          <a:p>
            <a:pPr eaLnBrk="1" hangingPunct="1"/>
            <a:endParaRPr lang="es-ES_tradnl" altLang="es-AR" dirty="0"/>
          </a:p>
          <a:p>
            <a:pPr eaLnBrk="1" hangingPunct="1"/>
            <a:endParaRPr lang="es-ES_tradnl" altLang="es-AR" dirty="0"/>
          </a:p>
          <a:p>
            <a:pPr eaLnBrk="1" hangingPunct="1"/>
            <a:endParaRPr lang="es-ES_tradnl" altLang="es-AR" dirty="0"/>
          </a:p>
          <a:p>
            <a:pPr eaLnBrk="1" hangingPunct="1"/>
            <a:r>
              <a:rPr lang="es-ES_tradnl" altLang="es-AR" dirty="0"/>
              <a:t>Productor </a:t>
            </a:r>
            <a:r>
              <a:rPr lang="es-ES_tradnl" altLang="es-AR" dirty="0">
                <a:latin typeface="Symbol" panose="05050102010706020507" pitchFamily="18" charset="2"/>
              </a:rPr>
              <a:t>-</a:t>
            </a:r>
            <a:r>
              <a:rPr lang="es-ES_tradnl" altLang="es-AR" dirty="0"/>
              <a:t> Administrador:</a:t>
            </a:r>
            <a:endParaRPr lang="es-ES_tradnl" altLang="es-AR" dirty="0"/>
          </a:p>
          <a:p>
            <a:pPr eaLnBrk="1" hangingPunct="1"/>
            <a:endParaRPr lang="es-ES" altLang="es-AR" dirty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4134351" y="2276475"/>
          <a:ext cx="4357687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Hoja de cálculo" r:id="rId1" imgW="4233545" imgH="1174115" progId="Excel.Sheet.8">
                  <p:embed/>
                </p:oleObj>
              </mc:Choice>
              <mc:Fallback>
                <p:oleObj name="Hoja de cálculo" r:id="rId1" imgW="4233545" imgH="117411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351" y="2276475"/>
                        <a:ext cx="4357687" cy="1200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3962400" y="4508501"/>
          <a:ext cx="4357688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Hoja de cálculo" r:id="rId3" imgW="4233545" imgH="1207770" progId="Excel.Sheet.8">
                  <p:embed/>
                </p:oleObj>
              </mc:Choice>
              <mc:Fallback>
                <p:oleObj name="Hoja de cálculo" r:id="rId3" imgW="4233545" imgH="120777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508501"/>
                        <a:ext cx="4357688" cy="1235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C14FE974-D3D1-4FBD-8FB5-88E43530B012}" type="slidenum">
              <a:rPr lang="es-CO" altLang="es-AR"/>
            </a:fld>
            <a:endParaRPr lang="es-CO" altLang="es-AR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sz="3900"/>
              <a:t>Reunión (JOIN)</a:t>
            </a:r>
            <a:endParaRPr lang="es-ES" altLang="es-AR" sz="390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5688" y="1773238"/>
            <a:ext cx="7766050" cy="39306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altLang="es-AR" sz="2700"/>
              <a:t>NATURAL JOIN: R1 </a:t>
            </a:r>
            <a:r>
              <a:rPr lang="en-US" altLang="es-AR" sz="4700"/>
              <a:t>⋈</a:t>
            </a:r>
            <a:r>
              <a:rPr lang="es-ES" altLang="es-AR" sz="2700"/>
              <a:t> R2</a:t>
            </a:r>
            <a:endParaRPr lang="es-ES" altLang="es-AR" sz="2700" baseline="-25000"/>
          </a:p>
          <a:p>
            <a:pPr marL="649605" lvl="1" indent="0">
              <a:lnSpc>
                <a:spcPct val="90000"/>
              </a:lnSpc>
              <a:buNone/>
            </a:pPr>
            <a:r>
              <a:rPr lang="es-MX" altLang="es-AR" sz="2300"/>
              <a:t>Si R1(A,B) y R2(B,C) el resultado de </a:t>
            </a:r>
            <a:r>
              <a:rPr lang="es-ES" altLang="es-AR" sz="2300"/>
              <a:t>R1 </a:t>
            </a:r>
            <a:r>
              <a:rPr lang="en-US" altLang="es-AR" sz="3500"/>
              <a:t>⋈</a:t>
            </a:r>
            <a:r>
              <a:rPr lang="es-ES" altLang="es-AR" sz="2300"/>
              <a:t> R2 </a:t>
            </a:r>
            <a:endParaRPr lang="es-ES" altLang="es-AR" sz="2300"/>
          </a:p>
          <a:p>
            <a:pPr marL="649605" lvl="1" indent="0">
              <a:lnSpc>
                <a:spcPct val="90000"/>
              </a:lnSpc>
              <a:buNone/>
            </a:pPr>
            <a:r>
              <a:rPr lang="es-ES" altLang="es-AR" sz="2300"/>
              <a:t>es una relación R3 con esquema R3(A,B,C) donde cada tupla de R1 se concatena con cada tupla de R2 </a:t>
            </a:r>
            <a:r>
              <a:rPr lang="es-ES" altLang="es-AR" sz="2300">
                <a:solidFill>
                  <a:schemeClr val="accent2"/>
                </a:solidFill>
              </a:rPr>
              <a:t>SIEMPRE Y CUANDO</a:t>
            </a:r>
            <a:r>
              <a:rPr lang="es-ES" altLang="es-AR" sz="2300"/>
              <a:t> tengan el mismo valor del atributo en común (B). </a:t>
            </a:r>
            <a:endParaRPr lang="es-ES" altLang="es-AR" sz="2300"/>
          </a:p>
          <a:p>
            <a:pPr marL="649605" lvl="1" indent="0">
              <a:lnSpc>
                <a:spcPct val="90000"/>
              </a:lnSpc>
              <a:buNone/>
            </a:pPr>
            <a:r>
              <a:rPr lang="es-ES" altLang="es-AR" sz="2300"/>
              <a:t>El atributo B puede ser compuesto.</a:t>
            </a:r>
            <a:endParaRPr lang="es-ES" altLang="es-AR"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BCD3187F-0ECE-47B6-AD07-DC8B3796646C}" type="slidenum">
              <a:rPr lang="es-CO" altLang="es-AR"/>
            </a:fld>
            <a:endParaRPr lang="es-CO" altLang="es-AR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Ejemplo</a:t>
            </a:r>
            <a:endParaRPr lang="es-ES" altLang="es-AR"/>
          </a:p>
        </p:txBody>
      </p:sp>
      <p:graphicFrame>
        <p:nvGraphicFramePr>
          <p:cNvPr id="8194" name="Object 6"/>
          <p:cNvGraphicFramePr>
            <a:graphicFrameLocks noChangeAspect="1"/>
          </p:cNvGraphicFramePr>
          <p:nvPr/>
        </p:nvGraphicFramePr>
        <p:xfrm>
          <a:off x="2495551" y="2349500"/>
          <a:ext cx="4410075" cy="236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Hoja de cálculo" r:id="rId1" imgW="5136515" imgH="2754630" progId="Excel.Sheet.8">
                  <p:embed/>
                </p:oleObj>
              </mc:Choice>
              <mc:Fallback>
                <p:oleObj name="Hoja de cálculo" r:id="rId1" imgW="5136515" imgH="275463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349500"/>
                        <a:ext cx="4410075" cy="23637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7"/>
          <p:cNvGraphicFramePr>
            <a:graphicFrameLocks noChangeAspect="1"/>
          </p:cNvGraphicFramePr>
          <p:nvPr/>
        </p:nvGraphicFramePr>
        <p:xfrm>
          <a:off x="7104063" y="2997200"/>
          <a:ext cx="26987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Hoja de cálculo" r:id="rId3" imgW="3149600" imgH="1964055" progId="Excel.Sheet.8">
                  <p:embed/>
                </p:oleObj>
              </mc:Choice>
              <mc:Fallback>
                <p:oleObj name="Hoja de cálculo" r:id="rId3" imgW="3149600" imgH="1964055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997200"/>
                        <a:ext cx="2698750" cy="1676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AutoShape 11"/>
          <p:cNvSpPr/>
          <p:nvPr/>
        </p:nvSpPr>
        <p:spPr bwMode="auto">
          <a:xfrm rot="16200000">
            <a:off x="6924676" y="4400551"/>
            <a:ext cx="288925" cy="1225550"/>
          </a:xfrm>
          <a:prstGeom prst="leftBrace">
            <a:avLst>
              <a:gd name="adj1" fmla="val 35348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8199" name="Text Box 12"/>
          <p:cNvSpPr txBox="1">
            <a:spLocks noChangeArrowheads="1"/>
          </p:cNvSpPr>
          <p:nvPr/>
        </p:nvSpPr>
        <p:spPr bwMode="auto">
          <a:xfrm>
            <a:off x="3000376" y="1819275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/>
              <a:t>Empleado</a:t>
            </a:r>
            <a:endParaRPr lang="es-ES" altLang="es-AR" sz="2400"/>
          </a:p>
        </p:txBody>
      </p:sp>
      <p:sp>
        <p:nvSpPr>
          <p:cNvPr id="8200" name="Text Box 13"/>
          <p:cNvSpPr txBox="1">
            <a:spLocks noChangeArrowheads="1"/>
          </p:cNvSpPr>
          <p:nvPr/>
        </p:nvSpPr>
        <p:spPr bwMode="auto">
          <a:xfrm>
            <a:off x="7319964" y="2466975"/>
            <a:ext cx="238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ES_tradnl" altLang="es-AR" sz="2400"/>
              <a:t>Departamento</a:t>
            </a:r>
            <a:endParaRPr lang="es-ES" altLang="es-AR" sz="2400"/>
          </a:p>
        </p:txBody>
      </p:sp>
      <p:sp>
        <p:nvSpPr>
          <p:cNvPr id="8201" name="Text Box 14"/>
          <p:cNvSpPr txBox="1">
            <a:spLocks noChangeArrowheads="1"/>
          </p:cNvSpPr>
          <p:nvPr/>
        </p:nvSpPr>
        <p:spPr bwMode="auto">
          <a:xfrm>
            <a:off x="6356844" y="5249864"/>
            <a:ext cx="16706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s-MX" altLang="es-AR" sz="2400">
                <a:latin typeface="Times New Roman" panose="02020603050405020304" pitchFamily="18" charset="0"/>
              </a:rPr>
              <a:t>Atributo de </a:t>
            </a:r>
            <a:endParaRPr lang="es-MX" altLang="es-AR" sz="2400">
              <a:latin typeface="Times New Roman" panose="02020603050405020304" pitchFamily="18" charset="0"/>
            </a:endParaRPr>
          </a:p>
          <a:p>
            <a:pPr algn="ctr"/>
            <a:r>
              <a:rPr lang="es-MX" altLang="es-AR" sz="2400">
                <a:latin typeface="Times New Roman" panose="02020603050405020304" pitchFamily="18" charset="0"/>
              </a:rPr>
              <a:t>Join</a:t>
            </a:r>
            <a:endParaRPr lang="es-ES" altLang="es-AR" sz="2400">
              <a:latin typeface="Times New Roman" panose="02020603050405020304" pitchFamily="18" charset="0"/>
            </a:endParaRP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1847851" y="5151438"/>
            <a:ext cx="3712683" cy="9233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s-MX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</a:t>
            </a:r>
            <a:r>
              <a:rPr lang="es-MX" dirty="0"/>
              <a:t>: En este ejemplo, el campo</a:t>
            </a:r>
            <a:endParaRPr lang="es-MX" dirty="0"/>
          </a:p>
          <a:p>
            <a:pPr eaLnBrk="0" hangingPunct="0">
              <a:defRPr/>
            </a:pPr>
            <a:r>
              <a:rPr lang="es-MX" dirty="0" err="1"/>
              <a:t>Depto</a:t>
            </a:r>
            <a:r>
              <a:rPr lang="es-MX" dirty="0"/>
              <a:t> en Empleado</a:t>
            </a:r>
            <a:r>
              <a:rPr lang="es-MX" b="1" dirty="0"/>
              <a:t> ES</a:t>
            </a:r>
            <a:r>
              <a:rPr lang="es-MX" dirty="0"/>
              <a:t> CF </a:t>
            </a:r>
            <a:endParaRPr lang="es-MX" dirty="0"/>
          </a:p>
          <a:p>
            <a:pPr eaLnBrk="0" hangingPunct="0">
              <a:defRPr/>
            </a:pPr>
            <a:r>
              <a:rPr lang="es-MX" dirty="0"/>
              <a:t>con respecto a la tabla Departamento</a:t>
            </a:r>
            <a:endParaRPr lang="es-E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EE6E2171-956E-4748-B530-3546D74DFB00}" type="slidenum">
              <a:rPr lang="es-CO" altLang="es-AR"/>
            </a:fld>
            <a:endParaRPr lang="es-CO" altLang="es-AR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sz="4400"/>
              <a:t>Ejemplo</a:t>
            </a:r>
            <a:endParaRPr lang="es-ES" altLang="es-AR" sz="440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7543800" cy="6731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s-ES" altLang="es-AR" sz="4000"/>
              <a:t>Empleado </a:t>
            </a:r>
            <a:r>
              <a:rPr lang="en-US" altLang="es-AR" sz="6000" b="1"/>
              <a:t>⋈</a:t>
            </a:r>
            <a:r>
              <a:rPr lang="es-ES" altLang="es-AR" sz="4000"/>
              <a:t> Departamento</a:t>
            </a:r>
            <a:endParaRPr lang="es-ES" altLang="es-AR" sz="4000"/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2135188" y="2708276"/>
          <a:ext cx="7561262" cy="274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Hoja de cálculo" r:id="rId1" imgW="7168515" imgH="2359660" progId="Excel.Sheet.8">
                  <p:embed/>
                </p:oleObj>
              </mc:Choice>
              <mc:Fallback>
                <p:oleObj name="Hoja de cálculo" r:id="rId1" imgW="7168515" imgH="235966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708276"/>
                        <a:ext cx="7561262" cy="27479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CD04220E-EB54-4D22-8FB0-D7C9661F4709}" type="slidenum">
              <a:rPr lang="es-CO" altLang="es-AR"/>
            </a:fld>
            <a:endParaRPr lang="es-CO" altLang="es-AR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altLang="es-AR"/>
              <a:t>SEMI JOIN ( </a:t>
            </a:r>
            <a:r>
              <a:rPr lang="es-ES" altLang="es-AR" sz="4700" b="1"/>
              <a:t>⊳</a:t>
            </a:r>
            <a:r>
              <a:rPr lang="es-ES" altLang="es-AR"/>
              <a:t>)</a:t>
            </a:r>
            <a:endParaRPr lang="es-ES" altLang="es-AR" sz="340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773238"/>
            <a:ext cx="7772400" cy="4322762"/>
          </a:xfrm>
        </p:spPr>
        <p:txBody>
          <a:bodyPr/>
          <a:lstStyle/>
          <a:p>
            <a:pPr lvl="1" eaLnBrk="1" hangingPunct="1"/>
            <a:r>
              <a:rPr lang="es-ES" altLang="es-AR" sz="2800"/>
              <a:t>Idéntico al NATURAL JOIN pero la relación resultante tiene el esquema de la relación izquierda </a:t>
            </a:r>
            <a:r>
              <a:rPr lang="es-ES" altLang="es-AR" sz="2800">
                <a:sym typeface="Wingdings" panose="05000000000000000000" pitchFamily="2" charset="2"/>
              </a:rPr>
              <a:t>¿Utilidad?</a:t>
            </a:r>
            <a:endParaRPr lang="es-ES" altLang="es-AR" sz="28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476FFC38-3603-42FE-AE6C-9A1D9AAA7463}" type="slidenum">
              <a:rPr lang="es-CO" altLang="es-AR"/>
            </a:fld>
            <a:endParaRPr lang="es-CO" altLang="es-AR"/>
          </a:p>
        </p:txBody>
      </p:sp>
      <p:sp>
        <p:nvSpPr>
          <p:cNvPr id="2765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/>
              <a:t>Ademas ..</a:t>
            </a:r>
            <a:endParaRPr lang="es-ES_tradnl" altLang="es-AR"/>
          </a:p>
        </p:txBody>
      </p:sp>
      <p:sp>
        <p:nvSpPr>
          <p:cNvPr id="2765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874839" y="1752601"/>
            <a:ext cx="8758237" cy="4556125"/>
          </a:xfrm>
        </p:spPr>
        <p:txBody>
          <a:bodyPr/>
          <a:lstStyle/>
          <a:p>
            <a:pPr marL="533400" indent="-533400">
              <a:buNone/>
            </a:pPr>
            <a:r>
              <a:rPr lang="es-ES_tradnl" altLang="es-AR" sz="2800"/>
              <a:t>Se permite también el siguiente operador:</a:t>
            </a:r>
            <a:endParaRPr lang="es-ES_tradnl" altLang="es-AR" sz="2800"/>
          </a:p>
          <a:p>
            <a:pPr marL="533400" indent="-533400">
              <a:buNone/>
            </a:pPr>
            <a:r>
              <a:rPr lang="es-ES_tradnl" altLang="es-AR" sz="3400">
                <a:solidFill>
                  <a:schemeClr val="accent2"/>
                </a:solidFill>
              </a:rPr>
              <a:t>Asignación</a:t>
            </a:r>
            <a:r>
              <a:rPr lang="es-ES_tradnl" altLang="es-AR" sz="3400"/>
              <a:t>: VbleRelacion ← Relación</a:t>
            </a:r>
            <a:endParaRPr lang="es-ES_tradnl" altLang="es-AR" sz="3400"/>
          </a:p>
          <a:p>
            <a:pPr marL="533400" indent="-533400">
              <a:buNone/>
            </a:pPr>
            <a:endParaRPr lang="es-ES_tradnl" altLang="es-AR" sz="3400"/>
          </a:p>
          <a:p>
            <a:pPr marL="533400" indent="-533400">
              <a:buNone/>
            </a:pPr>
            <a:r>
              <a:rPr lang="es-ES_tradnl" altLang="es-AR" sz="3400"/>
              <a:t>Otra forma de renombrar atributos y el nombre de la relación</a:t>
            </a:r>
            <a:endParaRPr lang="es-ES_tradnl" altLang="es-AR" sz="3400"/>
          </a:p>
          <a:p>
            <a:pPr marL="533400" indent="-533400">
              <a:buNone/>
            </a:pPr>
            <a:r>
              <a:rPr lang="es-ES_tradnl" altLang="es-AR" sz="2600">
                <a:latin typeface="Symbol" panose="05050102010706020507" pitchFamily="18" charset="2"/>
              </a:rPr>
              <a:t>r</a:t>
            </a:r>
            <a:r>
              <a:rPr lang="es-ES_tradnl" altLang="es-AR" sz="2600"/>
              <a:t> </a:t>
            </a:r>
            <a:r>
              <a:rPr lang="es-ES_tradnl" altLang="es-AR" sz="2600" baseline="-25000"/>
              <a:t>NuevoNombreRelación(Atributos Renombrados) </a:t>
            </a:r>
            <a:r>
              <a:rPr lang="es-ES_tradnl" altLang="es-AR" sz="2600"/>
              <a:t>(</a:t>
            </a:r>
            <a:r>
              <a:rPr lang="es-ES_tradnl" altLang="es-AR" sz="2600" baseline="-25000"/>
              <a:t> </a:t>
            </a:r>
            <a:r>
              <a:rPr lang="es-ES_tradnl" altLang="es-AR" sz="2600">
                <a:latin typeface="Symbol" panose="05050102010706020507" pitchFamily="18" charset="2"/>
              </a:rPr>
              <a:t>p</a:t>
            </a:r>
            <a:r>
              <a:rPr lang="es-ES_tradnl" altLang="es-AR" sz="2600" baseline="-25000"/>
              <a:t>(Lista Atributos)</a:t>
            </a:r>
            <a:r>
              <a:rPr lang="es-ES_tradnl" altLang="es-AR" sz="2600"/>
              <a:t>(R))</a:t>
            </a:r>
            <a:endParaRPr lang="es-ES_tradnl" altLang="es-AR"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6F457FAE-9294-4924-B5E6-98E970EF592A}" type="slidenum">
              <a:rPr lang="es-CO" altLang="es-AR"/>
            </a:fld>
            <a:endParaRPr lang="es-CO" altLang="es-AR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altLang="es-AR" sz="4700" dirty="0"/>
              <a:t>Agrupar con funciones</a:t>
            </a:r>
            <a:endParaRPr lang="es-ES" altLang="es-AR" sz="4700" dirty="0"/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45696" y="1261268"/>
            <a:ext cx="9301713" cy="360362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_tradnl" altLang="es-AR" sz="2800" dirty="0">
                <a:solidFill>
                  <a:schemeClr val="accent2"/>
                </a:solidFill>
              </a:rPr>
              <a:t>Ģ</a:t>
            </a:r>
            <a:r>
              <a:rPr lang="es-ES_tradnl" altLang="es-AR" sz="2800" dirty="0"/>
              <a:t> : Agrupar con funciones Sum(), </a:t>
            </a:r>
            <a:r>
              <a:rPr lang="es-ES_tradnl" altLang="es-AR" sz="2800" dirty="0" err="1"/>
              <a:t>Avg</a:t>
            </a:r>
            <a:r>
              <a:rPr lang="es-ES_tradnl" altLang="es-AR" sz="2800" dirty="0"/>
              <a:t>(), Max(), Min(), </a:t>
            </a:r>
            <a:r>
              <a:rPr lang="es-ES_tradnl" altLang="es-AR" sz="2800" dirty="0" err="1"/>
              <a:t>Count</a:t>
            </a:r>
            <a:r>
              <a:rPr lang="es-ES_tradnl" altLang="es-AR" sz="2800" dirty="0"/>
              <a:t>()</a:t>
            </a:r>
            <a:endParaRPr lang="es-ES_tradnl" altLang="es-AR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s-ES_tradnl" altLang="es-AR" sz="2800" dirty="0"/>
              <a:t>   </a:t>
            </a:r>
            <a:endParaRPr lang="es-ES_tradnl" altLang="es-AR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s-ES" altLang="es-AR" sz="400" dirty="0"/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935413" y="2565400"/>
          <a:ext cx="381000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Hoja de cálculo" r:id="rId1" imgW="5136515" imgH="2754630" progId="Excel.Sheet.8">
                  <p:embed/>
                </p:oleObj>
              </mc:Choice>
              <mc:Fallback>
                <p:oleObj name="Hoja de cálculo" r:id="rId1" imgW="5136515" imgH="275463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565400"/>
                        <a:ext cx="3810000" cy="203993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133600" y="4532314"/>
            <a:ext cx="6338888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>
                <a:latin typeface="Times New Roman" panose="02020603050405020304" pitchFamily="18" charset="0"/>
              </a:rPr>
              <a:t>¿Qué hace la siguiente consulta?</a:t>
            </a:r>
            <a:endParaRPr lang="es-MX" altLang="es-AR" sz="2400">
              <a:latin typeface="Times New Roman" panose="02020603050405020304" pitchFamily="18" charset="0"/>
            </a:endParaRPr>
          </a:p>
          <a:p>
            <a:r>
              <a:rPr lang="es-MX" altLang="es-AR" sz="2800" baseline="-25000"/>
              <a:t>Depto</a:t>
            </a:r>
            <a:r>
              <a:rPr lang="es-MX" altLang="es-AR" sz="2800">
                <a:latin typeface="Times New Roman" panose="02020603050405020304" pitchFamily="18" charset="0"/>
              </a:rPr>
              <a:t> </a:t>
            </a:r>
            <a:r>
              <a:rPr lang="es-ES_tradnl" altLang="es-AR" sz="2800">
                <a:latin typeface="Times New Roman" panose="02020603050405020304" pitchFamily="18" charset="0"/>
              </a:rPr>
              <a:t>Ģ</a:t>
            </a:r>
            <a:r>
              <a:rPr lang="es-MX" altLang="es-AR" sz="2800">
                <a:latin typeface="Times New Roman" panose="02020603050405020304" pitchFamily="18" charset="0"/>
              </a:rPr>
              <a:t> </a:t>
            </a:r>
            <a:r>
              <a:rPr lang="es-MX" altLang="es-AR" sz="2800" baseline="-25000"/>
              <a:t>Count(Código) </a:t>
            </a:r>
            <a:r>
              <a:rPr lang="es-MX" altLang="es-AR" sz="2800" b="1" baseline="-25000"/>
              <a:t>AS conteo</a:t>
            </a:r>
            <a:r>
              <a:rPr lang="es-MX" altLang="es-AR" sz="2800"/>
              <a:t> (Emp)</a:t>
            </a:r>
            <a:endParaRPr lang="es-ES" altLang="es-AR" sz="2800"/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7896225" y="5294314"/>
            <a:ext cx="21018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/>
              <a:t>Renombrado</a:t>
            </a:r>
            <a:endParaRPr lang="es-MX" altLang="es-AR"/>
          </a:p>
          <a:p>
            <a:r>
              <a:rPr lang="es-MX" altLang="es-AR"/>
              <a:t>de la función de </a:t>
            </a:r>
            <a:endParaRPr lang="es-MX" altLang="es-AR"/>
          </a:p>
          <a:p>
            <a:r>
              <a:rPr lang="es-MX" altLang="es-AR"/>
              <a:t>Grupo</a:t>
            </a:r>
            <a:endParaRPr lang="es-ES" altLang="es-AR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5519739" y="5445126"/>
            <a:ext cx="1944687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3143251" y="2565400"/>
            <a:ext cx="75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MX" altLang="es-AR" sz="2400">
                <a:latin typeface="Times New Roman" panose="02020603050405020304" pitchFamily="18" charset="0"/>
              </a:rPr>
              <a:t>Emp</a:t>
            </a:r>
            <a:endParaRPr lang="es-ES" altLang="es-AR" sz="2400">
              <a:latin typeface="Times New Roman" panose="02020603050405020304" pitchFamily="18" charset="0"/>
            </a:endParaRP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2782888" y="2133600"/>
            <a:ext cx="7023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s-ES_tradnl" altLang="es-AR" sz="2000"/>
              <a:t>Atributos de Agrupamiento </a:t>
            </a:r>
            <a:r>
              <a:rPr lang="es-ES_tradnl" altLang="es-AR" sz="2000">
                <a:solidFill>
                  <a:schemeClr val="accent2"/>
                </a:solidFill>
              </a:rPr>
              <a:t>Ģ</a:t>
            </a:r>
            <a:r>
              <a:rPr lang="es-ES_tradnl" altLang="es-AR" sz="2000"/>
              <a:t> Funciones de Grupo (R)</a:t>
            </a:r>
            <a:endParaRPr lang="es-ES_tradnl" altLang="es-AR" sz="2000"/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2063751" y="2630488"/>
            <a:ext cx="1103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s-ES_tradnl" altLang="es-AR"/>
              <a:t>Ej. Sea:</a:t>
            </a:r>
            <a:endParaRPr lang="es-CO" altLang="es-AR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1524000" y="2060576"/>
            <a:ext cx="14176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s-CO" altLang="es-AR"/>
              <a:t>SINTAXIS:</a:t>
            </a:r>
            <a:endParaRPr lang="es-CO" altLang="es-AR"/>
          </a:p>
        </p:txBody>
      </p:sp>
    </p:spTree>
  </p:cSld>
  <p:clrMapOvr>
    <a:masterClrMapping/>
  </p:clrMapOvr>
  <p:transition spd="med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4 Marcador de fecha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5D9A5C1F-6EC1-4A88-B2A4-24BB2C535731}" type="datetime1">
              <a:rPr lang="es-ES_tradnl" altLang="es-AR" smtClean="0"/>
            </a:fld>
            <a:endParaRPr lang="es-CO" altLang="es-AR"/>
          </a:p>
        </p:txBody>
      </p:sp>
      <p:sp>
        <p:nvSpPr>
          <p:cNvPr id="2867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fld id="{4093CFD3-4BF2-4EF1-BD6C-6892A0F5944D}" type="slidenum">
              <a:rPr lang="es-CO" altLang="es-AR"/>
            </a:fld>
            <a:endParaRPr lang="es-CO" altLang="es-AR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2" t="68890" r="52238" b="12839"/>
          <a:stretch>
            <a:fillRect/>
          </a:stretch>
        </p:blipFill>
        <p:spPr bwMode="auto">
          <a:xfrm>
            <a:off x="1524000" y="0"/>
            <a:ext cx="4857750" cy="26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7 Rectángulo"/>
          <p:cNvSpPr>
            <a:spLocks noChangeArrowheads="1"/>
          </p:cNvSpPr>
          <p:nvPr/>
        </p:nvSpPr>
        <p:spPr bwMode="auto">
          <a:xfrm>
            <a:off x="4524376" y="3071811"/>
            <a:ext cx="5286375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s-ES" altLang="es-AR" b="1" i="1">
                <a:solidFill>
                  <a:schemeClr val="bg1"/>
                </a:solidFill>
              </a:rPr>
              <a:t>Ģ</a:t>
            </a:r>
            <a:r>
              <a:rPr lang="es-ES" altLang="es-AR" b="1" baseline="-25000">
                <a:solidFill>
                  <a:schemeClr val="bg1"/>
                </a:solidFill>
              </a:rPr>
              <a:t>sum(</a:t>
            </a:r>
            <a:r>
              <a:rPr lang="es-ES" altLang="es-AR" b="1" i="1" baseline="-25000">
                <a:solidFill>
                  <a:schemeClr val="bg1"/>
                </a:solidFill>
              </a:rPr>
              <a:t>sueldo</a:t>
            </a:r>
            <a:r>
              <a:rPr lang="es-ES" altLang="es-AR" baseline="-25000">
                <a:solidFill>
                  <a:schemeClr val="bg1"/>
                </a:solidFill>
              </a:rPr>
              <a:t>)</a:t>
            </a:r>
            <a:r>
              <a:rPr lang="es-ES" altLang="es-AR">
                <a:solidFill>
                  <a:schemeClr val="bg1"/>
                </a:solidFill>
              </a:rPr>
              <a:t> (</a:t>
            </a:r>
            <a:r>
              <a:rPr lang="es-ES" altLang="es-AR" i="1">
                <a:solidFill>
                  <a:schemeClr val="bg1"/>
                </a:solidFill>
              </a:rPr>
              <a:t>trabajo-por-horas</a:t>
            </a:r>
            <a:r>
              <a:rPr lang="es-ES" altLang="es-AR">
                <a:solidFill>
                  <a:schemeClr val="bg1"/>
                </a:solidFill>
              </a:rPr>
              <a:t>) </a:t>
            </a:r>
            <a:endParaRPr lang="es-AR" altLang="es-AR">
              <a:solidFill>
                <a:schemeClr val="bg1"/>
              </a:solidFill>
            </a:endParaRPr>
          </a:p>
        </p:txBody>
      </p:sp>
      <p:sp>
        <p:nvSpPr>
          <p:cNvPr id="28678" name="9 Rectángulo"/>
          <p:cNvSpPr>
            <a:spLocks noChangeArrowheads="1"/>
          </p:cNvSpPr>
          <p:nvPr/>
        </p:nvSpPr>
        <p:spPr bwMode="auto">
          <a:xfrm>
            <a:off x="4452939" y="5000625"/>
            <a:ext cx="5214937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s-ES" altLang="es-AR" i="1" baseline="-25000">
                <a:solidFill>
                  <a:schemeClr val="bg1"/>
                </a:solidFill>
              </a:rPr>
              <a:t>nombre-sucursal</a:t>
            </a:r>
            <a:r>
              <a:rPr lang="es-ES" altLang="es-AR" i="1">
                <a:solidFill>
                  <a:schemeClr val="bg1"/>
                </a:solidFill>
              </a:rPr>
              <a:t> Ģ</a:t>
            </a:r>
            <a:r>
              <a:rPr lang="es-ES" altLang="es-AR" b="1" baseline="-25000">
                <a:solidFill>
                  <a:schemeClr val="bg1"/>
                </a:solidFill>
              </a:rPr>
              <a:t>sum</a:t>
            </a:r>
            <a:r>
              <a:rPr lang="es-ES" altLang="es-AR" baseline="-25000">
                <a:solidFill>
                  <a:schemeClr val="bg1"/>
                </a:solidFill>
              </a:rPr>
              <a:t>(</a:t>
            </a:r>
            <a:r>
              <a:rPr lang="es-ES" altLang="es-AR" i="1" baseline="-25000">
                <a:solidFill>
                  <a:schemeClr val="bg1"/>
                </a:solidFill>
              </a:rPr>
              <a:t>sueldo</a:t>
            </a:r>
            <a:r>
              <a:rPr lang="es-ES" altLang="es-AR" baseline="-25000">
                <a:solidFill>
                  <a:schemeClr val="bg1"/>
                </a:solidFill>
              </a:rPr>
              <a:t>)</a:t>
            </a:r>
            <a:r>
              <a:rPr lang="es-ES" altLang="es-AR">
                <a:solidFill>
                  <a:schemeClr val="bg1"/>
                </a:solidFill>
              </a:rPr>
              <a:t> (</a:t>
            </a:r>
            <a:r>
              <a:rPr lang="es-ES" altLang="es-AR" i="1">
                <a:solidFill>
                  <a:schemeClr val="bg1"/>
                </a:solidFill>
              </a:rPr>
              <a:t>trabajo-por-horas</a:t>
            </a:r>
            <a:r>
              <a:rPr lang="es-ES" altLang="es-AR">
                <a:solidFill>
                  <a:schemeClr val="bg1"/>
                </a:solidFill>
              </a:rPr>
              <a:t>) </a:t>
            </a:r>
            <a:endParaRPr lang="es-AR" altLang="es-AR">
              <a:solidFill>
                <a:schemeClr val="bg1"/>
              </a:solidFill>
            </a:endParaRPr>
          </a:p>
        </p:txBody>
      </p:sp>
      <p:sp>
        <p:nvSpPr>
          <p:cNvPr id="28679" name="Rectangle 3"/>
          <p:cNvSpPr>
            <a:spLocks noChangeArrowheads="1"/>
          </p:cNvSpPr>
          <p:nvPr/>
        </p:nvSpPr>
        <p:spPr bwMode="auto">
          <a:xfrm>
            <a:off x="4524376" y="3786189"/>
            <a:ext cx="5286375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4958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/>
            <a:r>
              <a:rPr lang="es-ES" altLang="es-AR" i="1">
                <a:solidFill>
                  <a:schemeClr val="bg1"/>
                </a:solidFill>
                <a:latin typeface="Adobe Caslon Pro"/>
                <a:ea typeface="Calibri" panose="020F0502020204030204" charset="0"/>
                <a:cs typeface="ZapfChancery-Italic"/>
              </a:rPr>
              <a:t>Ģ</a:t>
            </a:r>
            <a:r>
              <a:rPr lang="es-ES" altLang="es-AR" b="1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count</a:t>
            </a:r>
            <a:r>
              <a:rPr lang="es-ES" altLang="es-AR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(nombre</a:t>
            </a:r>
            <a:r>
              <a:rPr lang="es-ES" altLang="es-AR" i="1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-sucursal</a:t>
            </a:r>
            <a:r>
              <a:rPr lang="es-ES" altLang="es-AR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) </a:t>
            </a:r>
            <a:r>
              <a:rPr lang="es-ES" altLang="es-AR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</a:t>
            </a:r>
            <a:r>
              <a:rPr lang="es-ES" altLang="es-AR" i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trabajo-por-horas</a:t>
            </a:r>
            <a:r>
              <a:rPr lang="es-ES" altLang="es-AR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)</a:t>
            </a:r>
            <a:endParaRPr lang="es-ES" altLang="es-AR">
              <a:solidFill>
                <a:schemeClr val="bg1"/>
              </a:solidFill>
            </a:endParaRPr>
          </a:p>
        </p:txBody>
      </p:sp>
      <p:sp>
        <p:nvSpPr>
          <p:cNvPr id="28680" name="Rectangle 3"/>
          <p:cNvSpPr>
            <a:spLocks noChangeArrowheads="1"/>
          </p:cNvSpPr>
          <p:nvPr/>
        </p:nvSpPr>
        <p:spPr bwMode="auto">
          <a:xfrm>
            <a:off x="4452939" y="4429125"/>
            <a:ext cx="5214937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4958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s-ES" altLang="es-AR" i="1">
                <a:solidFill>
                  <a:schemeClr val="bg1"/>
                </a:solidFill>
                <a:latin typeface="Adobe Caslon Pro"/>
                <a:ea typeface="Calibri" panose="020F0502020204030204" charset="0"/>
                <a:cs typeface="ZapfChancery-Italic"/>
              </a:rPr>
              <a:t>Ģ</a:t>
            </a:r>
            <a:r>
              <a:rPr lang="es-ES" altLang="es-AR" b="1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count-distinct</a:t>
            </a:r>
            <a:r>
              <a:rPr lang="es-ES" altLang="es-AR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(nombre</a:t>
            </a:r>
            <a:r>
              <a:rPr lang="es-ES" altLang="es-AR" i="1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-sucursal</a:t>
            </a:r>
            <a:r>
              <a:rPr lang="es-ES" altLang="es-AR" baseline="-30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) </a:t>
            </a:r>
            <a:r>
              <a:rPr lang="es-ES" altLang="es-AR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(</a:t>
            </a:r>
            <a:r>
              <a:rPr lang="es-ES" altLang="es-AR" i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trabajo-por-horas</a:t>
            </a:r>
            <a:r>
              <a:rPr lang="es-ES" altLang="es-AR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charset="0"/>
                <a:cs typeface="Arial" panose="020B0604020202020204" pitchFamily="34" charset="0"/>
              </a:rPr>
              <a:t>)</a:t>
            </a:r>
            <a:endParaRPr lang="es-ES" altLang="es-AR">
              <a:solidFill>
                <a:schemeClr val="bg1"/>
              </a:solidFill>
            </a:endParaRPr>
          </a:p>
        </p:txBody>
      </p:sp>
      <p:sp>
        <p:nvSpPr>
          <p:cNvPr id="14" name="13 Abrir llave"/>
          <p:cNvSpPr/>
          <p:nvPr/>
        </p:nvSpPr>
        <p:spPr>
          <a:xfrm>
            <a:off x="3738564" y="2928938"/>
            <a:ext cx="357187" cy="25717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28682" name="14 CuadroTexto"/>
          <p:cNvSpPr txBox="1">
            <a:spLocks noChangeArrowheads="1"/>
          </p:cNvSpPr>
          <p:nvPr/>
        </p:nvSpPr>
        <p:spPr bwMode="auto">
          <a:xfrm>
            <a:off x="1666875" y="3714751"/>
            <a:ext cx="2000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es-AR" altLang="es-AR" b="1"/>
              <a:t>Que devuelven??</a:t>
            </a:r>
            <a:endParaRPr lang="es-AR" altLang="es-AR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>
                <a:hlinkClick r:id="rId2" tooltip="https://es.wikiquote.org/wiki/Pregunta"/>
              </a:rPr>
              <a:t>Esta foto</a:t>
            </a:r>
            <a:r>
              <a:rPr lang="es-AR" sz="900"/>
              <a:t> de Autor desconocido está bajo licencia </a:t>
            </a:r>
            <a:r>
              <a:rPr lang="es-AR" sz="900">
                <a:hlinkClick r:id="rId3" tooltip="https://creativecommons.org/licenses/by-sa/3.0/"/>
              </a:rPr>
              <a:t>CC BY-SA</a:t>
            </a:r>
            <a:endParaRPr lang="es-AR" sz="9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0</TotalTime>
  <Words>4433</Words>
  <Application>WPS Presentation</Application>
  <PresentationFormat>Panorámica</PresentationFormat>
  <Paragraphs>259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18</vt:i4>
      </vt:variant>
      <vt:variant>
        <vt:lpstr>幻灯片标题</vt:lpstr>
      </vt:variant>
      <vt:variant>
        <vt:i4>24</vt:i4>
      </vt:variant>
    </vt:vector>
  </HeadingPairs>
  <TitlesOfParts>
    <vt:vector size="57" baseType="lpstr">
      <vt:lpstr>Arial</vt:lpstr>
      <vt:lpstr>SimSun</vt:lpstr>
      <vt:lpstr>Wingdings</vt:lpstr>
      <vt:lpstr>Trebuchet MS</vt:lpstr>
      <vt:lpstr>Verdana</vt:lpstr>
      <vt:lpstr>Symbol</vt:lpstr>
      <vt:lpstr>Times New Roman</vt:lpstr>
      <vt:lpstr>Tw Cen MT</vt:lpstr>
      <vt:lpstr>Segoe Print</vt:lpstr>
      <vt:lpstr>Microsoft YaHei</vt:lpstr>
      <vt:lpstr>Arial Unicode MS</vt:lpstr>
      <vt:lpstr>Calibri</vt:lpstr>
      <vt:lpstr>Adobe Caslon Pro</vt:lpstr>
      <vt:lpstr>ZapfChancery-Italic</vt:lpstr>
      <vt:lpstr>Circuito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ADMINISTRACIÓN DE BASE DE DATOS</vt:lpstr>
      <vt:lpstr>Álgebra Relacional</vt:lpstr>
      <vt:lpstr>Álgebra Relacional</vt:lpstr>
      <vt:lpstr>Álgebra Relacional</vt:lpstr>
      <vt:lpstr>Restricción o Selección (s)</vt:lpstr>
      <vt:lpstr>Restricción o Selección (s)</vt:lpstr>
      <vt:lpstr>Proyección (p)</vt:lpstr>
      <vt:lpstr>Proyección (p)</vt:lpstr>
      <vt:lpstr>Proyección (p)</vt:lpstr>
      <vt:lpstr>Producto Cartesiano: R1 X  R2</vt:lpstr>
      <vt:lpstr>Unión: R1 È R2</vt:lpstr>
      <vt:lpstr>Ejemplo:</vt:lpstr>
      <vt:lpstr>Intersección: R1  R2</vt:lpstr>
      <vt:lpstr>Ejemplo</vt:lpstr>
      <vt:lpstr>Diferencia: R1 - R2</vt:lpstr>
      <vt:lpstr>Ejemplo</vt:lpstr>
      <vt:lpstr>Reunión (JOIN)</vt:lpstr>
      <vt:lpstr>Ejemplo</vt:lpstr>
      <vt:lpstr>Ejemplo</vt:lpstr>
      <vt:lpstr>SEMI JOIN ( ⊳)</vt:lpstr>
      <vt:lpstr>Ademas ..</vt:lpstr>
      <vt:lpstr>Agrupar con funciones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Tecnicatura Universitaria en Desarrollo de software</dc:title>
  <dc:creator>Usuario</dc:creator>
  <cp:lastModifiedBy>Ema</cp:lastModifiedBy>
  <cp:revision>25</cp:revision>
  <dcterms:created xsi:type="dcterms:W3CDTF">2019-02-06T15:51:00Z</dcterms:created>
  <dcterms:modified xsi:type="dcterms:W3CDTF">2025-10-08T23:05:46Z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B17AD41513C244C5A3AA90AC62D025AE_12</vt:lpwstr>
  </property>
  <property fmtid="{D5CDD505-2E9C-101B-9397-08002B2CF9AE}" pid="3" name="KSOProductBuildVer">
    <vt:lpwstr>2058-12.2.0.22549</vt:lpwstr>
  </property>
</Properties>
</file>
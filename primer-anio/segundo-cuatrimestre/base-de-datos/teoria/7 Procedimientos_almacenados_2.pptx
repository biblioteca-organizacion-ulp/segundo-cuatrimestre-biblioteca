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312" r:id="rId27"/>
    <p:sldId id="286" r:id="rId28"/>
    <p:sldId id="287" r:id="rId29"/>
    <p:sldId id="288" r:id="rId30"/>
    <p:sldId id="289" r:id="rId31"/>
    <p:sldId id="311" r:id="rId32"/>
    <p:sldId id="313" r:id="rId33"/>
    <p:sldId id="301" r:id="rId34"/>
    <p:sldId id="302" r:id="rId35"/>
    <p:sldId id="303" r:id="rId36"/>
    <p:sldId id="304" r:id="rId37"/>
    <p:sldId id="305" r:id="rId38"/>
    <p:sldId id="314" r:id="rId39"/>
    <p:sldId id="257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2B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2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88CFFE6-35ED-44EA-8B97-0818B3961DD0}" type="datetimeFigureOut">
              <a:rPr lang="es-AR" smtClean="0"/>
              <a:pPr/>
              <a:t>06/05/2019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9352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06/05/2019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55153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06/05/2019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62633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06/05/2019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86466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06/05/2019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45013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06/05/2019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69232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06/05/2019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66750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06/05/2019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44338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06/05/2019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41215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06/05/2019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21105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06/05/2019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32109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06/05/2019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1947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06/05/2019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08090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06/05/2019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56651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06/05/2019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52593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06/05/2019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75135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06/05/2019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067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CFFE6-35ED-44EA-8B97-0818B3961DD0}" type="datetimeFigureOut">
              <a:rPr lang="es-AR" smtClean="0"/>
              <a:pPr/>
              <a:t>06/05/2019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00699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quote.org/wiki/Pregunta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28522" y="3248167"/>
            <a:ext cx="5963479" cy="3073235"/>
          </a:xfrm>
        </p:spPr>
        <p:txBody>
          <a:bodyPr>
            <a:normAutofit/>
          </a:bodyPr>
          <a:lstStyle/>
          <a:p>
            <a:r>
              <a:rPr lang="es-AR" dirty="0"/>
              <a:t>Laboratorio de programación </a:t>
            </a:r>
            <a:r>
              <a:rPr lang="es-AR" dirty="0" err="1"/>
              <a:t>ii</a:t>
            </a:r>
            <a:endParaRPr lang="es-AR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47"/>
            <a:ext cx="6228522" cy="687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392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CL" dirty="0"/>
              <a:t>Que es un PA?</a:t>
            </a:r>
            <a:endParaRPr lang="es-E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 b="1"/>
              <a:t>Un Procedimiento Almacenado es un programa autocontrolado escrito en lenguaje del DBMS, son almacenados como parte de la Base de Datos y sus metadatos.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CL"/>
              <a:t>Que es un PA?</a:t>
            </a:r>
            <a:endParaRPr lang="es-ES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eaLnBrk="1" hangingPunct="1"/>
            <a:r>
              <a:rPr lang="es-ES" sz="2800" b="1"/>
              <a:t>Una vez creado un procedimiento almacenado, se puede invocar directamente desde una aplicación, o sustituir el nombre de una tabla o vista, por el nombre de procedimiento en cláusulas SELECT. </a:t>
            </a:r>
          </a:p>
          <a:p>
            <a:pPr eaLnBrk="1" hangingPunct="1"/>
            <a:endParaRPr lang="es-ES" sz="2800" b="1"/>
          </a:p>
          <a:p>
            <a:pPr eaLnBrk="1" hangingPunct="1"/>
            <a:r>
              <a:rPr lang="es-ES" sz="2800" b="1"/>
              <a:t>Los procedimientos almacenados pueden recibir parámetros de entrada y retornar valores a la aplicación.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CL"/>
              <a:t>Ventajas</a:t>
            </a:r>
            <a:endParaRPr lang="es-ES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 b="1"/>
              <a:t>Diseño modular. </a:t>
            </a:r>
          </a:p>
          <a:p>
            <a:pPr eaLnBrk="1" hangingPunct="1"/>
            <a:r>
              <a:rPr lang="es-ES" b="1"/>
              <a:t>Aplicaciones que acceden la misma Base de Datos pueden compartir los procedimientos almacenados, eliminando el código doble y reduciendo el tamaño de las aplicaciones. </a:t>
            </a:r>
          </a:p>
          <a:p>
            <a:pPr eaLnBrk="1" hangingPunct="1"/>
            <a:r>
              <a:rPr lang="es-ES" b="1"/>
              <a:t>El fácil mantenimiento. </a:t>
            </a:r>
          </a:p>
          <a:p>
            <a:pPr eaLnBrk="1" hangingPunct="1"/>
            <a:endParaRPr lang="es-ES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CL"/>
              <a:t>Ventajas</a:t>
            </a:r>
            <a:endParaRPr lang="es-ES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 b="1"/>
              <a:t>Cuando un procedimiento se actualiza, los cambios se reflejan automáticamente en todas las aplicaciones, sin la necesidad de recompilar y re linkear. Las aplicaciones son compiladas sólo una vez para cada cliente. </a:t>
            </a:r>
          </a:p>
          <a:p>
            <a:pPr eaLnBrk="1" hangingPunct="1"/>
            <a:endParaRPr lang="es-ES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CL"/>
              <a:t>Ventajas</a:t>
            </a:r>
            <a:endParaRPr lang="es-ES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 b="1"/>
              <a:t>Los procedimientos almacenados son ejecutados por el servidor, no por el cliente lo que reduce el tráfico en la red y mejora el performance o desempeño, especialmente para el acceso del cliente remoto.  </a:t>
            </a:r>
          </a:p>
          <a:p>
            <a:pPr eaLnBrk="1" hangingPunct="1"/>
            <a:endParaRPr lang="es-ES" b="1"/>
          </a:p>
          <a:p>
            <a:pPr eaLnBrk="1" hangingPunct="1"/>
            <a:endParaRPr lang="es-ES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CL"/>
              <a:t>Ventajas</a:t>
            </a:r>
            <a:endParaRPr lang="es-ES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 b="1"/>
              <a:t>Están almacenados en los servidores y asegurados por las medidas tomadas en la instalación, lo que impide que los usuarios normales puedan modificarlos e incluso desconocen su existencia. Este es un elemento de gran valor en lo que a seguridad respecta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CL"/>
              <a:t>Rendimiento</a:t>
            </a:r>
            <a:endParaRPr lang="es-ES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ES" sz="2800" dirty="0"/>
              <a:t>Cada vez que un comando 	PL-SQL, o conjunto de comandos, es enviado el servidor para su procesamiento, el servidor debe determinar si el remitente tiene suficientes privilegios para ejecutar esos comandos y si los comandos son válidos. </a:t>
            </a:r>
          </a:p>
          <a:p>
            <a:pPr eaLnBrk="1" hangingPunct="1">
              <a:lnSpc>
                <a:spcPct val="90000"/>
              </a:lnSpc>
            </a:pPr>
            <a:endParaRPr lang="es-ES" sz="2800" dirty="0"/>
          </a:p>
          <a:p>
            <a:pPr eaLnBrk="1" hangingPunct="1">
              <a:lnSpc>
                <a:spcPct val="90000"/>
              </a:lnSpc>
            </a:pPr>
            <a:r>
              <a:rPr lang="es-ES" sz="2800" dirty="0"/>
              <a:t>Una vez que los permisos y la sintaxis de los comandos se han verificado, </a:t>
            </a:r>
            <a:r>
              <a:rPr lang="es-ES" sz="2800" dirty="0" err="1"/>
              <a:t>MySQL</a:t>
            </a:r>
            <a:r>
              <a:rPr lang="es-ES" sz="2800" dirty="0"/>
              <a:t> construye un plan de ejecución para procesar el pedido.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CL"/>
              <a:t>Rendimiento</a:t>
            </a:r>
            <a:endParaRPr lang="es-ES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 dirty="0"/>
              <a:t>Los procedimientos almacenados son más eficientes en parte porque el procedimiento es almacenado en el Server cuando se crea</a:t>
            </a:r>
          </a:p>
          <a:p>
            <a:pPr eaLnBrk="1" hangingPunct="1"/>
            <a:r>
              <a:rPr lang="es-ES" dirty="0"/>
              <a:t>La sintaxis de los comandos contenidos en un procedimiento almacenado se comprueba que este libre de errores antes de ser guardado.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CL"/>
              <a:t>Rendimiento</a:t>
            </a:r>
            <a:endParaRPr lang="es-ES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s-ES" sz="2800"/>
              <a:t>El nombre del procedimiento almacenado se almacena en la tabla SysObjects, mientras que el texto del procedimiento se guarda en la tabla SysComments. </a:t>
            </a:r>
          </a:p>
          <a:p>
            <a:pPr eaLnBrk="1" hangingPunct="1"/>
            <a:endParaRPr lang="es-CL" sz="2800"/>
          </a:p>
          <a:p>
            <a:pPr eaLnBrk="1" hangingPunct="1"/>
            <a:r>
              <a:rPr lang="es-ES" sz="2800"/>
              <a:t>Invocar al procedimiento almacenado implica ejecutar un solo comando en vez de cientos de comandos que un procedimiento almacenado podría contener.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CL"/>
              <a:t>Rendimiento</a:t>
            </a:r>
            <a:endParaRPr lang="es-ES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0"/>
            <a:ext cx="11582400" cy="5257800"/>
          </a:xfrm>
        </p:spPr>
        <p:txBody>
          <a:bodyPr/>
          <a:lstStyle/>
          <a:p>
            <a:pPr eaLnBrk="1" hangingPunct="1"/>
            <a:r>
              <a:rPr lang="es-ES" dirty="0"/>
              <a:t>La primera vez que se ejecuta el procedimiento, se crea un plan de ejecución y se compila al procedimiento almacenado </a:t>
            </a:r>
          </a:p>
          <a:p>
            <a:pPr eaLnBrk="1" hangingPunct="1"/>
            <a:endParaRPr lang="es-CL" dirty="0"/>
          </a:p>
          <a:p>
            <a:pPr eaLnBrk="1" hangingPunct="1"/>
            <a:r>
              <a:rPr lang="es-ES" dirty="0"/>
              <a:t>Los procesamientos subsecuentes del procedimiento almacenado son mucho más rápidos ya que el Server no vuelve a controlar la sintaxis, ni recrea un plan de ejecución, ni se recompila el procedimiento.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CL"/>
              <a:t>Rendimiento</a:t>
            </a:r>
            <a:endParaRPr lang="es-ES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/>
              <a:t>Por último se verifica el caché por si ya existe un plan de ejecución para ese procedimiento antes de generar un nuevo plan de ejecución.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b="1"/>
              <a:t>Marco de programación</a:t>
            </a:r>
            <a:r>
              <a:rPr lang="es-ES"/>
              <a:t>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/>
              <a:t>Una vez que se crea un procedimiento almacenado, puede ser llamado todas las veces que sea necesario </a:t>
            </a:r>
          </a:p>
          <a:p>
            <a:pPr eaLnBrk="1" hangingPunct="1"/>
            <a:endParaRPr lang="es-CL"/>
          </a:p>
          <a:p>
            <a:pPr eaLnBrk="1" hangingPunct="1"/>
            <a:r>
              <a:rPr lang="es-ES"/>
              <a:t>Esta capacidad provee modulación y habilita la reutilización del código.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b="1"/>
              <a:t>Marco de programación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ES"/>
              <a:t>La reutilización del código mejora el mantenimiento de la base de datos al aislar la base de datos de los cambios en las prácticas del negocio. </a:t>
            </a:r>
          </a:p>
          <a:p>
            <a:pPr eaLnBrk="1" hangingPunct="1">
              <a:lnSpc>
                <a:spcPct val="90000"/>
              </a:lnSpc>
            </a:pPr>
            <a:endParaRPr lang="es-ES"/>
          </a:p>
          <a:p>
            <a:pPr eaLnBrk="1" hangingPunct="1">
              <a:lnSpc>
                <a:spcPct val="90000"/>
              </a:lnSpc>
            </a:pPr>
            <a:r>
              <a:rPr lang="es-ES"/>
              <a:t>Si las reglas de negocios cambian en una organización, se puede modificar a los procedimientos almacenados para cumplir con las nuevas reglas de negocio.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b="1"/>
              <a:t>Marco de programación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/>
              <a:t>Todas las aplicaciones que llaman a esos procedimientos almacenados cumplirán con la nuevas reglas, sin tener que ser directamente modificados.</a:t>
            </a:r>
          </a:p>
          <a:p>
            <a:pPr eaLnBrk="1" hangingPunct="1"/>
            <a:endParaRPr lang="es-E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4000" b="1"/>
              <a:t>Seguridad</a:t>
            </a:r>
            <a:br>
              <a:rPr lang="es-ES" sz="4000"/>
            </a:br>
            <a:endParaRPr lang="es-ES" sz="400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ES" sz="2800"/>
              <a:t>Otro capacidad importante de los procedimientos almacenados es que mejoran la seguridad a través de la encriptación y el aislamiento. </a:t>
            </a:r>
          </a:p>
          <a:p>
            <a:pPr eaLnBrk="1" hangingPunct="1">
              <a:lnSpc>
                <a:spcPct val="90000"/>
              </a:lnSpc>
            </a:pPr>
            <a:endParaRPr lang="es-ES" sz="2800"/>
          </a:p>
          <a:p>
            <a:pPr eaLnBrk="1" hangingPunct="1">
              <a:lnSpc>
                <a:spcPct val="90000"/>
              </a:lnSpc>
            </a:pPr>
            <a:r>
              <a:rPr lang="es-ES" sz="2800"/>
              <a:t>Los usuarios de las bases de datos pueden tener permisos de ejecutar un procedimiento almacenado sin tenerlos para acceder directamente a los objetos de la bases de datos sobre las que opera el procedimiento almacenado. </a:t>
            </a:r>
          </a:p>
          <a:p>
            <a:pPr eaLnBrk="1" hangingPunct="1">
              <a:lnSpc>
                <a:spcPct val="90000"/>
              </a:lnSpc>
            </a:pPr>
            <a:endParaRPr lang="es-ES"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CL"/>
              <a:t>Seguridad</a:t>
            </a:r>
            <a:endParaRPr lang="es-ES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ES" sz="2800" dirty="0"/>
              <a:t>Además un procedimiento almacenado puede ser encriptado cuando se lo crea o modifica inhabilitando a los usuarios a leer los comandos PL-SQL contenidos en el procedimiento almacenado. </a:t>
            </a:r>
          </a:p>
          <a:p>
            <a:pPr eaLnBrk="1" hangingPunct="1">
              <a:lnSpc>
                <a:spcPct val="90000"/>
              </a:lnSpc>
            </a:pPr>
            <a:endParaRPr lang="es-ES" sz="2800" dirty="0"/>
          </a:p>
          <a:p>
            <a:pPr eaLnBrk="1" hangingPunct="1">
              <a:lnSpc>
                <a:spcPct val="90000"/>
              </a:lnSpc>
            </a:pPr>
            <a:r>
              <a:rPr lang="es-ES" sz="2800" dirty="0"/>
              <a:t>Esta capacidad de seguridad permite aislar la estructura de la base de datos del usuario de la base de datos, con la consiguiente ganancia en seguridad.</a:t>
            </a:r>
          </a:p>
          <a:p>
            <a:pPr eaLnBrk="1" hangingPunct="1">
              <a:lnSpc>
                <a:spcPct val="90000"/>
              </a:lnSpc>
            </a:pPr>
            <a:endParaRPr lang="es-E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3"/>
          <p:cNvSpPr>
            <a:spLocks noGrp="1" noChangeArrowheads="1"/>
          </p:cNvSpPr>
          <p:nvPr>
            <p:ph idx="1"/>
          </p:nvPr>
        </p:nvSpPr>
        <p:spPr>
          <a:xfrm>
            <a:off x="931333" y="789306"/>
            <a:ext cx="11260667" cy="452596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s-ES" sz="2600" b="1" dirty="0"/>
              <a:t>Sintaxis general:</a:t>
            </a:r>
          </a:p>
          <a:p>
            <a:pPr>
              <a:lnSpc>
                <a:spcPct val="90000"/>
              </a:lnSpc>
              <a:buFontTx/>
              <a:buNone/>
            </a:pPr>
            <a:endParaRPr lang="es-ES" sz="2600" b="1" dirty="0"/>
          </a:p>
          <a:p>
            <a:pPr>
              <a:lnSpc>
                <a:spcPct val="90000"/>
              </a:lnSpc>
              <a:buFontTx/>
              <a:buNone/>
            </a:pPr>
            <a:endParaRPr lang="es-ES" sz="26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s-ES" sz="2600" b="1" dirty="0"/>
              <a:t>CREATE PROCEDURE </a:t>
            </a:r>
            <a:r>
              <a:rPr lang="es-ES" sz="2600" b="1" dirty="0" err="1"/>
              <a:t>sp_name</a:t>
            </a:r>
            <a:r>
              <a:rPr lang="es-ES" sz="2600" b="1" dirty="0"/>
              <a:t> ([ </a:t>
            </a:r>
            <a:r>
              <a:rPr lang="es-ES" sz="2600" b="1" dirty="0" err="1"/>
              <a:t>parameter</a:t>
            </a:r>
            <a:r>
              <a:rPr lang="es-ES" sz="2600" b="1" dirty="0"/>
              <a:t>[ ,…] ] 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s-ES" sz="2600" b="1" dirty="0" err="1"/>
              <a:t>routine_body</a:t>
            </a:r>
            <a:endParaRPr lang="es-ES" sz="2600" b="1" dirty="0"/>
          </a:p>
          <a:p>
            <a:pPr>
              <a:lnSpc>
                <a:spcPct val="90000"/>
              </a:lnSpc>
              <a:buFontTx/>
              <a:buNone/>
            </a:pPr>
            <a:endParaRPr lang="es-ES" sz="26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s-ES" sz="2600" dirty="0"/>
              <a:t>Donde:</a:t>
            </a:r>
          </a:p>
          <a:p>
            <a:pPr>
              <a:lnSpc>
                <a:spcPct val="90000"/>
              </a:lnSpc>
            </a:pPr>
            <a:r>
              <a:rPr lang="es-ES" sz="2600" b="1" dirty="0" err="1"/>
              <a:t>parameter</a:t>
            </a:r>
            <a:r>
              <a:rPr lang="es-ES" sz="2600" dirty="0"/>
              <a:t>: [ IN | OUT | INOUT ] </a:t>
            </a:r>
            <a:r>
              <a:rPr lang="es-ES" sz="2600" dirty="0" err="1"/>
              <a:t>param_name</a:t>
            </a:r>
            <a:r>
              <a:rPr lang="es-ES" sz="2600" dirty="0"/>
              <a:t> </a:t>
            </a:r>
            <a:r>
              <a:rPr lang="es-ES" sz="2600" dirty="0" err="1"/>
              <a:t>type</a:t>
            </a:r>
            <a:r>
              <a:rPr lang="es-ES" sz="2600" dirty="0"/>
              <a:t> </a:t>
            </a:r>
          </a:p>
          <a:p>
            <a:pPr>
              <a:lnSpc>
                <a:spcPct val="90000"/>
              </a:lnSpc>
            </a:pPr>
            <a:r>
              <a:rPr lang="es-ES" sz="2600" b="1" dirty="0" err="1"/>
              <a:t>type</a:t>
            </a:r>
            <a:r>
              <a:rPr lang="es-ES" sz="2600" dirty="0"/>
              <a:t>: Cualquier tipo de dato válido para </a:t>
            </a:r>
            <a:r>
              <a:rPr lang="es-ES" sz="2600" dirty="0" err="1"/>
              <a:t>mysql</a:t>
            </a:r>
            <a:r>
              <a:rPr lang="es-ES" sz="2600" dirty="0"/>
              <a:t>.</a:t>
            </a:r>
          </a:p>
          <a:p>
            <a:pPr>
              <a:lnSpc>
                <a:spcPct val="90000"/>
              </a:lnSpc>
            </a:pPr>
            <a:r>
              <a:rPr lang="es-ES" sz="2600" b="1" dirty="0" err="1"/>
              <a:t>routine_body</a:t>
            </a:r>
            <a:r>
              <a:rPr lang="es-ES" sz="2600" dirty="0"/>
              <a:t>: comandos SQL válidos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3"/>
          <p:cNvSpPr>
            <a:spLocks noGrp="1" noChangeArrowheads="1"/>
          </p:cNvSpPr>
          <p:nvPr>
            <p:ph idx="1"/>
          </p:nvPr>
        </p:nvSpPr>
        <p:spPr>
          <a:xfrm>
            <a:off x="1170107" y="1465930"/>
            <a:ext cx="9596215" cy="4525963"/>
          </a:xfrm>
        </p:spPr>
        <p:txBody>
          <a:bodyPr/>
          <a:lstStyle/>
          <a:p>
            <a:pPr>
              <a:buFontTx/>
              <a:buNone/>
            </a:pPr>
            <a:r>
              <a:rPr lang="es-ES" sz="2600" b="1" dirty="0"/>
              <a:t>CREATE PROCEDURE </a:t>
            </a:r>
            <a:r>
              <a:rPr lang="es-ES" sz="2600" b="1" dirty="0" err="1"/>
              <a:t>sp_name</a:t>
            </a:r>
            <a:r>
              <a:rPr lang="es-ES" sz="2600" b="1" dirty="0"/>
              <a:t> ([ </a:t>
            </a:r>
            <a:r>
              <a:rPr lang="es-ES" sz="2600" b="1" dirty="0" err="1"/>
              <a:t>parameter</a:t>
            </a:r>
            <a:r>
              <a:rPr lang="es-ES" sz="2600" b="1" dirty="0"/>
              <a:t>[ ,…] ] )</a:t>
            </a:r>
          </a:p>
          <a:p>
            <a:pPr>
              <a:buFontTx/>
              <a:buNone/>
            </a:pPr>
            <a:r>
              <a:rPr lang="es-ES" sz="2600" b="1" dirty="0" err="1"/>
              <a:t>routine_body</a:t>
            </a:r>
            <a:endParaRPr lang="es-ES" sz="2600" b="1" dirty="0"/>
          </a:p>
          <a:p>
            <a:endParaRPr lang="es-ES" dirty="0"/>
          </a:p>
          <a:p>
            <a:r>
              <a:rPr lang="es-ES" dirty="0"/>
              <a:t>Bloque Cabecera</a:t>
            </a:r>
          </a:p>
          <a:p>
            <a:r>
              <a:rPr lang="es-ES" dirty="0"/>
              <a:t>Bloque de Ejecución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Rectangle 3"/>
          <p:cNvSpPr>
            <a:spLocks noGrp="1" noChangeArrowheads="1"/>
          </p:cNvSpPr>
          <p:nvPr>
            <p:ph idx="1"/>
          </p:nvPr>
        </p:nvSpPr>
        <p:spPr>
          <a:xfrm>
            <a:off x="1155290" y="1166019"/>
            <a:ext cx="8932606" cy="4525962"/>
          </a:xfrm>
        </p:spPr>
        <p:txBody>
          <a:bodyPr/>
          <a:lstStyle/>
          <a:p>
            <a:r>
              <a:rPr lang="es-ES" dirty="0"/>
              <a:t>Tipos de Programas en el lado del servidor:</a:t>
            </a:r>
          </a:p>
          <a:p>
            <a:endParaRPr lang="es-ES" dirty="0"/>
          </a:p>
          <a:p>
            <a:r>
              <a:rPr lang="es-ES" b="1" dirty="0"/>
              <a:t>Procedimientos almacenados </a:t>
            </a:r>
          </a:p>
          <a:p>
            <a:r>
              <a:rPr lang="es-ES" b="1" dirty="0"/>
              <a:t>Funciones de Usuario.</a:t>
            </a:r>
          </a:p>
          <a:p>
            <a:endParaRPr lang="es-ES" b="1" dirty="0"/>
          </a:p>
          <a:p>
            <a:r>
              <a:rPr lang="es-ES" dirty="0" err="1"/>
              <a:t>Triggers</a:t>
            </a:r>
            <a:r>
              <a:rPr lang="es-ES" dirty="0"/>
              <a:t>. (se verá después)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ES" sz="2800"/>
              <a:t>El punto y coma (;) es el delimitador por defecto.</a:t>
            </a:r>
          </a:p>
          <a:p>
            <a:r>
              <a:rPr lang="es-ES" sz="2800"/>
              <a:t>Los procedimientos almacenados y funciones pueden contener varias sentencias que terminan con este delimitador. </a:t>
            </a:r>
          </a:p>
          <a:p>
            <a:r>
              <a:rPr lang="es-ES" sz="2800"/>
              <a:t>Se debe indicar a MySQL que temporalmente NO lo usaremos como carácter delimitador, eso lo haremos usando la sentencia </a:t>
            </a:r>
            <a:r>
              <a:rPr lang="es-ES" sz="2800" b="1"/>
              <a:t>DELIMITER</a:t>
            </a:r>
            <a:r>
              <a:rPr lang="es-ES" sz="2800"/>
              <a:t>.</a:t>
            </a:r>
            <a:br>
              <a:rPr lang="es-ES" sz="2800"/>
            </a:br>
            <a:endParaRPr lang="es-ES" sz="2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1780F53-5661-48EF-BF65-49CF23474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501" y="1555957"/>
            <a:ext cx="9746174" cy="374608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774701"/>
            <a:ext cx="10972800" cy="4525963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80000"/>
              </a:lnSpc>
            </a:pPr>
            <a:r>
              <a:rPr lang="es-ES" sz="2400" b="1"/>
              <a:t>BEGIN - END</a:t>
            </a:r>
          </a:p>
          <a:p>
            <a:pPr algn="just">
              <a:lnSpc>
                <a:spcPct val="80000"/>
              </a:lnSpc>
            </a:pPr>
            <a:endParaRPr lang="es-ES" sz="2400"/>
          </a:p>
          <a:p>
            <a:pPr algn="just">
              <a:lnSpc>
                <a:spcPct val="80000"/>
              </a:lnSpc>
              <a:buFontTx/>
              <a:buNone/>
            </a:pPr>
            <a:endParaRPr lang="es-ES" sz="2400"/>
          </a:p>
          <a:p>
            <a:pPr algn="just">
              <a:lnSpc>
                <a:spcPct val="80000"/>
              </a:lnSpc>
            </a:pPr>
            <a:r>
              <a:rPr lang="es-ES" sz="2400" b="1"/>
              <a:t>[etiqueta_inicio:] BEGIN </a:t>
            </a:r>
          </a:p>
          <a:p>
            <a:pPr algn="just">
              <a:lnSpc>
                <a:spcPct val="80000"/>
              </a:lnSpc>
            </a:pPr>
            <a:r>
              <a:rPr lang="es-ES" sz="2400" b="1"/>
              <a:t>[lista_sentencias] </a:t>
            </a:r>
          </a:p>
          <a:p>
            <a:pPr algn="just">
              <a:lnSpc>
                <a:spcPct val="80000"/>
              </a:lnSpc>
            </a:pPr>
            <a:r>
              <a:rPr lang="es-ES" sz="2400" b="1"/>
              <a:t>END [etiqueta_fin] </a:t>
            </a:r>
          </a:p>
          <a:p>
            <a:pPr algn="just">
              <a:lnSpc>
                <a:spcPct val="80000"/>
              </a:lnSpc>
            </a:pPr>
            <a:endParaRPr lang="es-ES" sz="2400" b="1"/>
          </a:p>
          <a:p>
            <a:pPr algn="just">
              <a:lnSpc>
                <a:spcPct val="80000"/>
              </a:lnSpc>
            </a:pPr>
            <a:r>
              <a:rPr lang="es-ES" sz="2400"/>
              <a:t>La sintaxis </a:t>
            </a:r>
            <a:r>
              <a:rPr lang="es-ES" sz="2400" b="1"/>
              <a:t>BEGIN ... END</a:t>
            </a:r>
            <a:r>
              <a:rPr lang="es-ES" sz="2400"/>
              <a:t> se utiliza para escribir sentencias compuestas que pueden aparecer en el interior de procedimientos almacenados. </a:t>
            </a:r>
          </a:p>
          <a:p>
            <a:pPr algn="just">
              <a:lnSpc>
                <a:spcPct val="80000"/>
              </a:lnSpc>
            </a:pPr>
            <a:r>
              <a:rPr lang="es-ES" sz="2400"/>
              <a:t>Una sentencia compuesta puede contener múltiples sentencias, encerradas por las palabras </a:t>
            </a:r>
            <a:r>
              <a:rPr lang="es-ES" sz="2400" b="1"/>
              <a:t>BEGIN</a:t>
            </a:r>
            <a:r>
              <a:rPr lang="es-ES" sz="2400"/>
              <a:t> y </a:t>
            </a:r>
            <a:r>
              <a:rPr lang="es-ES" sz="2400" b="1"/>
              <a:t>END</a:t>
            </a:r>
            <a:r>
              <a:rPr lang="es-ES" sz="2400"/>
              <a:t>. </a:t>
            </a:r>
          </a:p>
          <a:p>
            <a:pPr algn="just">
              <a:lnSpc>
                <a:spcPct val="80000"/>
              </a:lnSpc>
            </a:pPr>
            <a:r>
              <a:rPr lang="es-ES" sz="2400" b="1"/>
              <a:t>lista_sentencias</a:t>
            </a:r>
            <a:r>
              <a:rPr lang="es-ES" sz="2400"/>
              <a:t> es una lista de una o más sentencias. </a:t>
            </a:r>
          </a:p>
          <a:p>
            <a:pPr algn="just">
              <a:lnSpc>
                <a:spcPct val="80000"/>
              </a:lnSpc>
            </a:pPr>
            <a:r>
              <a:rPr lang="es-ES" sz="2400"/>
              <a:t>Cada sentencia dentro de </a:t>
            </a:r>
            <a:r>
              <a:rPr lang="es-ES" sz="2400" b="1"/>
              <a:t>lista_sentencias</a:t>
            </a:r>
            <a:r>
              <a:rPr lang="es-ES" sz="2400"/>
              <a:t> debe terminar con un punto y como (</a:t>
            </a:r>
            <a:r>
              <a:rPr lang="es-ES" sz="2400" b="1" u="sng"/>
              <a:t>;</a:t>
            </a:r>
            <a:r>
              <a:rPr lang="es-ES" sz="2400"/>
              <a:t>) delimitador de sentencias.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68413"/>
            <a:ext cx="10972800" cy="45259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s-ES" sz="2400" b="1"/>
              <a:t>DECLARE</a:t>
            </a:r>
          </a:p>
          <a:p>
            <a:pPr>
              <a:lnSpc>
                <a:spcPct val="90000"/>
              </a:lnSpc>
              <a:buFontTx/>
              <a:buNone/>
            </a:pPr>
            <a:endParaRPr lang="es-ES" sz="2400" b="1"/>
          </a:p>
          <a:p>
            <a:pPr>
              <a:lnSpc>
                <a:spcPct val="90000"/>
              </a:lnSpc>
            </a:pPr>
            <a:r>
              <a:rPr lang="es-ES" sz="2400"/>
              <a:t>El comando </a:t>
            </a:r>
            <a:r>
              <a:rPr lang="es-ES" sz="2400" b="1"/>
              <a:t>DECLARE</a:t>
            </a:r>
            <a:r>
              <a:rPr lang="es-ES" sz="2400"/>
              <a:t> se usa para definir variables locales que se utilizarán dentro de los PA.</a:t>
            </a:r>
          </a:p>
          <a:p>
            <a:pPr>
              <a:lnSpc>
                <a:spcPct val="90000"/>
              </a:lnSpc>
            </a:pPr>
            <a:r>
              <a:rPr lang="es-ES" sz="2400" b="1"/>
              <a:t>DECLARE</a:t>
            </a:r>
            <a:r>
              <a:rPr lang="es-ES" sz="2400"/>
              <a:t> puede usarse sólo dentro de comandos compuestos </a:t>
            </a:r>
            <a:r>
              <a:rPr lang="es-ES" sz="2400" b="1"/>
              <a:t>BEGIN ... END</a:t>
            </a:r>
            <a:r>
              <a:rPr lang="es-ES" sz="2400"/>
              <a:t> y deben ser su inicio, antes de cualquier otro comando.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idx="1"/>
          </p:nvPr>
        </p:nvSpPr>
        <p:spPr>
          <a:xfrm>
            <a:off x="931333" y="1067491"/>
            <a:ext cx="11260667" cy="4525963"/>
          </a:xfrm>
        </p:spPr>
        <p:txBody>
          <a:bodyPr>
            <a:normAutofit fontScale="85000" lnSpcReduction="20000"/>
          </a:bodyPr>
          <a:lstStyle/>
          <a:p>
            <a:pPr>
              <a:buFontTx/>
              <a:buNone/>
            </a:pPr>
            <a:r>
              <a:rPr lang="es-ES" sz="2400" b="1" dirty="0"/>
              <a:t>CREATE PROCEDURE </a:t>
            </a:r>
            <a:r>
              <a:rPr lang="es-ES" sz="2400" b="1" dirty="0" err="1"/>
              <a:t>sp_name</a:t>
            </a:r>
            <a:r>
              <a:rPr lang="es-ES" sz="2400" b="1" dirty="0"/>
              <a:t> ([ </a:t>
            </a:r>
            <a:r>
              <a:rPr lang="es-ES" sz="2400" b="1" dirty="0" err="1"/>
              <a:t>parameter</a:t>
            </a:r>
            <a:r>
              <a:rPr lang="es-ES" sz="2400" b="1" dirty="0"/>
              <a:t>[ ,…] ] )</a:t>
            </a:r>
          </a:p>
          <a:p>
            <a:pPr>
              <a:buFontTx/>
              <a:buNone/>
            </a:pPr>
            <a:endParaRPr lang="es-ES" sz="2400" b="1" dirty="0">
              <a:solidFill>
                <a:schemeClr val="folHlink"/>
              </a:solidFill>
            </a:endParaRPr>
          </a:p>
          <a:p>
            <a:pPr>
              <a:buFontTx/>
              <a:buNone/>
            </a:pPr>
            <a:r>
              <a:rPr lang="es-ES" sz="2400" b="1" dirty="0"/>
              <a:t>Begin</a:t>
            </a:r>
          </a:p>
          <a:p>
            <a:pPr>
              <a:buFontTx/>
              <a:buNone/>
            </a:pPr>
            <a:r>
              <a:rPr lang="es-ES" sz="2400" b="1" dirty="0">
                <a:solidFill>
                  <a:schemeClr val="accent1"/>
                </a:solidFill>
              </a:rPr>
              <a:t>Declare…</a:t>
            </a:r>
          </a:p>
          <a:p>
            <a:pPr>
              <a:buFontTx/>
              <a:buNone/>
            </a:pPr>
            <a:r>
              <a:rPr lang="es-ES" sz="2400" b="1" dirty="0"/>
              <a:t>…</a:t>
            </a:r>
          </a:p>
          <a:p>
            <a:pPr>
              <a:buFontTx/>
              <a:buNone/>
            </a:pPr>
            <a:r>
              <a:rPr lang="es-ES" sz="2400" b="1" dirty="0" err="1"/>
              <a:t>End</a:t>
            </a:r>
            <a:endParaRPr lang="es-ES" sz="2400" b="1" dirty="0"/>
          </a:p>
          <a:p>
            <a:endParaRPr lang="es-ES" sz="2400" dirty="0"/>
          </a:p>
          <a:p>
            <a:r>
              <a:rPr lang="es-ES" sz="2400" dirty="0">
                <a:solidFill>
                  <a:schemeClr val="folHlink"/>
                </a:solidFill>
              </a:rPr>
              <a:t>Bloque Cabecera</a:t>
            </a:r>
          </a:p>
          <a:p>
            <a:r>
              <a:rPr lang="es-ES" sz="2400" dirty="0"/>
              <a:t>Bloque de Ejecución</a:t>
            </a:r>
          </a:p>
          <a:p>
            <a:r>
              <a:rPr lang="es-ES" sz="2400" dirty="0">
                <a:solidFill>
                  <a:schemeClr val="accent1"/>
                </a:solidFill>
              </a:rPr>
              <a:t>Bloque de Declaración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C5A9B85-C681-48B1-961A-11D8F56FC35C}"/>
              </a:ext>
            </a:extLst>
          </p:cNvPr>
          <p:cNvPicPr/>
          <p:nvPr/>
        </p:nvPicPr>
        <p:blipFill>
          <a:blip r:embed="rId2"/>
          <a:srcRect l="27495" t="35347" r="27359" b="33535"/>
          <a:stretch>
            <a:fillRect/>
          </a:stretch>
        </p:blipFill>
        <p:spPr bwMode="auto">
          <a:xfrm>
            <a:off x="1099931" y="1287029"/>
            <a:ext cx="9992138" cy="4725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117260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7" name="Rectangle 3"/>
          <p:cNvSpPr>
            <a:spLocks noGrp="1" noChangeArrowheads="1"/>
          </p:cNvSpPr>
          <p:nvPr>
            <p:ph idx="1"/>
          </p:nvPr>
        </p:nvSpPr>
        <p:spPr>
          <a:xfrm>
            <a:off x="594784" y="990601"/>
            <a:ext cx="10972800" cy="45259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s-ES" sz="2800" b="1"/>
              <a:t>Como se invocan???</a:t>
            </a:r>
          </a:p>
          <a:p>
            <a:pPr>
              <a:lnSpc>
                <a:spcPct val="90000"/>
              </a:lnSpc>
            </a:pPr>
            <a:endParaRPr lang="es-ES" sz="2800" b="1"/>
          </a:p>
          <a:p>
            <a:pPr>
              <a:lnSpc>
                <a:spcPct val="90000"/>
              </a:lnSpc>
              <a:buFontTx/>
              <a:buNone/>
            </a:pPr>
            <a:endParaRPr lang="es-ES" sz="2800"/>
          </a:p>
          <a:p>
            <a:pPr>
              <a:lnSpc>
                <a:spcPct val="90000"/>
              </a:lnSpc>
            </a:pPr>
            <a:r>
              <a:rPr lang="es-ES" sz="2800" b="1"/>
              <a:t>PROCEDURE</a:t>
            </a:r>
            <a:r>
              <a:rPr lang="es-ES" sz="2800"/>
              <a:t>:  sentencia </a:t>
            </a:r>
            <a:r>
              <a:rPr lang="es-ES" sz="2800" b="1"/>
              <a:t>call</a:t>
            </a:r>
            <a:endParaRPr lang="es-ES" sz="2800"/>
          </a:p>
          <a:p>
            <a:pPr>
              <a:lnSpc>
                <a:spcPct val="90000"/>
              </a:lnSpc>
            </a:pPr>
            <a:r>
              <a:rPr lang="es-ES" sz="2800"/>
              <a:t>mysql&gt; call nombre_del_procedimiento();</a:t>
            </a:r>
            <a:br>
              <a:rPr lang="es-ES" sz="2800"/>
            </a:br>
            <a:endParaRPr lang="es-ES" sz="2800"/>
          </a:p>
          <a:p>
            <a:pPr>
              <a:lnSpc>
                <a:spcPct val="90000"/>
              </a:lnSpc>
            </a:pPr>
            <a:r>
              <a:rPr lang="es-ES" sz="2800" b="1"/>
              <a:t>FUNCTION</a:t>
            </a:r>
            <a:r>
              <a:rPr lang="es-ES" sz="2800"/>
              <a:t>: </a:t>
            </a:r>
            <a:r>
              <a:rPr lang="es-ES" sz="2800" b="1"/>
              <a:t>select</a:t>
            </a:r>
            <a:endParaRPr lang="es-ES" sz="2800"/>
          </a:p>
          <a:p>
            <a:pPr>
              <a:lnSpc>
                <a:spcPct val="90000"/>
              </a:lnSpc>
            </a:pPr>
            <a:r>
              <a:rPr lang="es-ES" sz="2800"/>
              <a:t>mysql&gt; select nombre_funcion(); </a:t>
            </a:r>
          </a:p>
          <a:p>
            <a:pPr>
              <a:lnSpc>
                <a:spcPct val="90000"/>
              </a:lnSpc>
            </a:pPr>
            <a:endParaRPr lang="es-ES" sz="2800"/>
          </a:p>
          <a:p>
            <a:pPr>
              <a:lnSpc>
                <a:spcPct val="90000"/>
              </a:lnSpc>
            </a:pPr>
            <a:r>
              <a:rPr lang="es-ES" sz="2800" b="1"/>
              <a:t>TRIGGER</a:t>
            </a:r>
            <a:r>
              <a:rPr lang="es-ES" sz="2800"/>
              <a:t>: no se invoca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908051"/>
            <a:ext cx="10972800" cy="45259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s-ES"/>
              <a:t>Recordando…</a:t>
            </a:r>
          </a:p>
          <a:p>
            <a:pPr>
              <a:lnSpc>
                <a:spcPct val="80000"/>
              </a:lnSpc>
              <a:buFontTx/>
              <a:buNone/>
            </a:pPr>
            <a:endParaRPr lang="es-ES"/>
          </a:p>
          <a:p>
            <a:pPr>
              <a:lnSpc>
                <a:spcPct val="80000"/>
              </a:lnSpc>
            </a:pPr>
            <a:r>
              <a:rPr lang="es-ES" b="1"/>
              <a:t>Funciones SQL estándar.</a:t>
            </a:r>
          </a:p>
          <a:p>
            <a:pPr>
              <a:lnSpc>
                <a:spcPct val="80000"/>
              </a:lnSpc>
            </a:pPr>
            <a:r>
              <a:rPr lang="es-ES"/>
              <a:t>Clasificación:</a:t>
            </a:r>
          </a:p>
          <a:p>
            <a:pPr lvl="1">
              <a:lnSpc>
                <a:spcPct val="80000"/>
              </a:lnSpc>
            </a:pPr>
            <a:r>
              <a:rPr lang="es-ES"/>
              <a:t>Funciones Numéricas.</a:t>
            </a:r>
          </a:p>
          <a:p>
            <a:pPr lvl="1">
              <a:lnSpc>
                <a:spcPct val="80000"/>
              </a:lnSpc>
            </a:pPr>
            <a:r>
              <a:rPr lang="es-ES"/>
              <a:t>Agregación.</a:t>
            </a:r>
          </a:p>
          <a:p>
            <a:pPr lvl="1">
              <a:lnSpc>
                <a:spcPct val="80000"/>
              </a:lnSpc>
            </a:pPr>
            <a:r>
              <a:rPr lang="es-ES"/>
              <a:t>Fecha y Hora.</a:t>
            </a:r>
          </a:p>
          <a:p>
            <a:pPr lvl="1">
              <a:lnSpc>
                <a:spcPct val="80000"/>
              </a:lnSpc>
            </a:pPr>
            <a:r>
              <a:rPr lang="es-ES"/>
              <a:t>Cadena de caracteres.</a:t>
            </a:r>
          </a:p>
          <a:p>
            <a:pPr lvl="1">
              <a:lnSpc>
                <a:spcPct val="80000"/>
              </a:lnSpc>
            </a:pPr>
            <a:r>
              <a:rPr lang="es-ES"/>
              <a:t>Otras.</a:t>
            </a:r>
          </a:p>
          <a:p>
            <a:pPr lvl="1">
              <a:lnSpc>
                <a:spcPct val="80000"/>
              </a:lnSpc>
            </a:pPr>
            <a:endParaRPr lang="es-ES"/>
          </a:p>
          <a:p>
            <a:pPr>
              <a:lnSpc>
                <a:spcPct val="80000"/>
              </a:lnSpc>
            </a:pPr>
            <a:r>
              <a:rPr lang="es-ES"/>
              <a:t>Investigar sobre fns. SQL estándar.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565401"/>
            <a:ext cx="10972800" cy="4525963"/>
          </a:xfrm>
        </p:spPr>
        <p:txBody>
          <a:bodyPr/>
          <a:lstStyle/>
          <a:p>
            <a:r>
              <a:rPr lang="es-ES" sz="3600"/>
              <a:t>Funciones definidas por el usuario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487363"/>
            <a:ext cx="10972800" cy="452596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s-ES" sz="2400"/>
              <a:t>Sintaxis:</a:t>
            </a:r>
          </a:p>
          <a:p>
            <a:pPr>
              <a:lnSpc>
                <a:spcPct val="90000"/>
              </a:lnSpc>
            </a:pPr>
            <a:endParaRPr lang="es-ES" sz="2400"/>
          </a:p>
          <a:p>
            <a:pPr>
              <a:lnSpc>
                <a:spcPct val="90000"/>
              </a:lnSpc>
            </a:pPr>
            <a:r>
              <a:rPr lang="es-ES" sz="2400" b="1"/>
              <a:t>CREATE FUNCTION sp_name ([parameter[,...]]) RETURNS type  routine_body </a:t>
            </a:r>
          </a:p>
          <a:p>
            <a:pPr>
              <a:lnSpc>
                <a:spcPct val="90000"/>
              </a:lnSpc>
            </a:pPr>
            <a:endParaRPr lang="es-ES" sz="2400" b="1"/>
          </a:p>
          <a:p>
            <a:pPr>
              <a:lnSpc>
                <a:spcPct val="90000"/>
              </a:lnSpc>
            </a:pPr>
            <a:r>
              <a:rPr lang="es-ES" sz="2400"/>
              <a:t>Una funcion (FUNCTION) es un procedimiento almacenado (PROCEDURE). </a:t>
            </a:r>
          </a:p>
          <a:p>
            <a:pPr>
              <a:lnSpc>
                <a:spcPct val="90000"/>
              </a:lnSpc>
            </a:pPr>
            <a:r>
              <a:rPr lang="es-ES" sz="2400"/>
              <a:t>Difieren de los procedimientos en: </a:t>
            </a:r>
          </a:p>
          <a:p>
            <a:pPr>
              <a:lnSpc>
                <a:spcPct val="90000"/>
              </a:lnSpc>
            </a:pPr>
            <a:r>
              <a:rPr lang="es-ES" sz="2400"/>
              <a:t>La lista de parámetros solo puede contener parámetros de entrada. </a:t>
            </a:r>
          </a:p>
          <a:p>
            <a:pPr>
              <a:lnSpc>
                <a:spcPct val="90000"/>
              </a:lnSpc>
            </a:pPr>
            <a:r>
              <a:rPr lang="es-ES" sz="2400"/>
              <a:t>IN, OUT o INOUT es solo válido para PA.</a:t>
            </a:r>
          </a:p>
          <a:p>
            <a:pPr>
              <a:lnSpc>
                <a:spcPct val="90000"/>
              </a:lnSpc>
            </a:pPr>
            <a:r>
              <a:rPr lang="es-ES" sz="2400"/>
              <a:t>Una funcion siempre debe retornar un valor del tipo definido en la declaracion de la funcion. </a:t>
            </a:r>
          </a:p>
          <a:p>
            <a:pPr>
              <a:lnSpc>
                <a:spcPct val="90000"/>
              </a:lnSpc>
            </a:pPr>
            <a:r>
              <a:rPr lang="es-ES" sz="2400"/>
              <a:t>Las fns. pueden ser llamadas dentro de sentencias sql</a:t>
            </a:r>
          </a:p>
          <a:p>
            <a:pPr>
              <a:lnSpc>
                <a:spcPct val="90000"/>
              </a:lnSpc>
            </a:pPr>
            <a:r>
              <a:rPr lang="es-ES" sz="2400"/>
              <a:t>Una funcion no puede devolver un registro de datos.</a:t>
            </a:r>
          </a:p>
          <a:p>
            <a:pPr>
              <a:lnSpc>
                <a:spcPct val="90000"/>
              </a:lnSpc>
            </a:pPr>
            <a:endParaRPr lang="es-ES" sz="2400"/>
          </a:p>
          <a:p>
            <a:pPr>
              <a:lnSpc>
                <a:spcPct val="90000"/>
              </a:lnSpc>
            </a:pPr>
            <a:endParaRPr lang="es-ES" sz="2400"/>
          </a:p>
          <a:p>
            <a:pPr>
              <a:lnSpc>
                <a:spcPct val="90000"/>
              </a:lnSpc>
            </a:pPr>
            <a:endParaRPr lang="es-ES"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D9C1C7B-B8EB-4A9D-8BC8-90264898B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409" y="1311878"/>
            <a:ext cx="9248109" cy="379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092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45BC0C1-D4FA-451F-A6C4-304AD3640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366" y="1855926"/>
            <a:ext cx="9410830" cy="345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028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863851"/>
            <a:ext cx="10972800" cy="4525963"/>
          </a:xfrm>
        </p:spPr>
        <p:txBody>
          <a:bodyPr/>
          <a:lstStyle/>
          <a:p>
            <a:pPr>
              <a:buFontTx/>
              <a:buNone/>
            </a:pPr>
            <a:endParaRPr lang="es-ES" sz="3600" b="1" dirty="0"/>
          </a:p>
          <a:p>
            <a:endParaRPr lang="es-ES" sz="36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1B32DBC-0CFD-4BD3-BE2A-A1B1F9ED9A0D}"/>
              </a:ext>
            </a:extLst>
          </p:cNvPr>
          <p:cNvSpPr/>
          <p:nvPr/>
        </p:nvSpPr>
        <p:spPr>
          <a:xfrm>
            <a:off x="1803335" y="2676869"/>
            <a:ext cx="908646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5400" b="1" dirty="0"/>
              <a:t>Algunas estructuras de control.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052513"/>
            <a:ext cx="10972800" cy="45259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s-ES" sz="2400" b="1"/>
              <a:t>BLOQUE IF</a:t>
            </a:r>
            <a:br>
              <a:rPr lang="es-ES" sz="2400" b="1"/>
            </a:br>
            <a:endParaRPr lang="es-ES" sz="2400" b="1"/>
          </a:p>
          <a:p>
            <a:pPr>
              <a:lnSpc>
                <a:spcPct val="90000"/>
              </a:lnSpc>
              <a:buFontTx/>
              <a:buNone/>
            </a:pPr>
            <a:endParaRPr lang="es-ES" sz="2400" b="1"/>
          </a:p>
          <a:p>
            <a:pPr>
              <a:lnSpc>
                <a:spcPct val="90000"/>
              </a:lnSpc>
              <a:buFontTx/>
              <a:buNone/>
            </a:pPr>
            <a:r>
              <a:rPr lang="es-ES" sz="2400" b="1"/>
              <a:t>IF </a:t>
            </a:r>
            <a:r>
              <a:rPr lang="es-ES" sz="2400"/>
              <a:t>expresión</a:t>
            </a:r>
            <a:r>
              <a:rPr lang="es-ES" sz="2400" b="1"/>
              <a:t> THEN …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s-ES" sz="2400" b="1"/>
              <a:t>ELSE …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s-ES" sz="2400" b="1"/>
              <a:t>… </a:t>
            </a:r>
            <a:endParaRPr lang="es-ES" sz="2400"/>
          </a:p>
          <a:p>
            <a:pPr>
              <a:lnSpc>
                <a:spcPct val="90000"/>
              </a:lnSpc>
              <a:buFontTx/>
              <a:buNone/>
            </a:pPr>
            <a:r>
              <a:rPr lang="es-ES" sz="2400" b="1"/>
              <a:t>END IF; </a:t>
            </a:r>
            <a:br>
              <a:rPr lang="es-ES" sz="2400" b="1"/>
            </a:br>
            <a:endParaRPr lang="en-US" sz="2400"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135063"/>
            <a:ext cx="10972800" cy="452596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s-ES" sz="2400" b="1"/>
              <a:t>WHILE</a:t>
            </a:r>
            <a:br>
              <a:rPr lang="es-ES" sz="2400"/>
            </a:br>
            <a:endParaRPr lang="es-ES" sz="2400"/>
          </a:p>
          <a:p>
            <a:pPr>
              <a:lnSpc>
                <a:spcPct val="80000"/>
              </a:lnSpc>
            </a:pPr>
            <a:endParaRPr lang="es-ES" sz="2400"/>
          </a:p>
          <a:p>
            <a:pPr>
              <a:lnSpc>
                <a:spcPct val="80000"/>
              </a:lnSpc>
              <a:buFontTx/>
              <a:buNone/>
            </a:pPr>
            <a:r>
              <a:rPr lang="es-ES" sz="2400" b="1"/>
              <a:t>WHILE </a:t>
            </a:r>
            <a:r>
              <a:rPr lang="es-ES" sz="2400"/>
              <a:t>expresión </a:t>
            </a:r>
            <a:r>
              <a:rPr lang="es-ES" sz="2400" b="1"/>
              <a:t>DO </a:t>
            </a:r>
            <a:r>
              <a:rPr lang="es-ES" sz="2400"/>
              <a:t>  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s-ES" sz="2400"/>
              <a:t> -- contenido del bucle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s-ES" sz="2400" b="1"/>
              <a:t>END WHILE</a:t>
            </a:r>
            <a:r>
              <a:rPr lang="es-ES" sz="2400"/>
              <a:t>; </a:t>
            </a:r>
            <a:br>
              <a:rPr lang="es-ES" sz="2400"/>
            </a:br>
            <a:endParaRPr lang="en-US" sz="2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981076"/>
            <a:ext cx="10972800" cy="4525963"/>
          </a:xfrm>
        </p:spPr>
        <p:txBody>
          <a:bodyPr/>
          <a:lstStyle/>
          <a:p>
            <a:r>
              <a:rPr lang="es-ES" sz="2400" b="1"/>
              <a:t>REPEAT – UNTIL</a:t>
            </a:r>
          </a:p>
          <a:p>
            <a:pPr>
              <a:buFontTx/>
              <a:buNone/>
            </a:pPr>
            <a:endParaRPr lang="es-ES" sz="2400"/>
          </a:p>
          <a:p>
            <a:pPr>
              <a:buFontTx/>
              <a:buNone/>
            </a:pPr>
            <a:endParaRPr lang="es-ES" sz="2400"/>
          </a:p>
          <a:p>
            <a:pPr>
              <a:buFontTx/>
              <a:buNone/>
            </a:pPr>
            <a:r>
              <a:rPr lang="es-ES" sz="2400" b="1"/>
              <a:t>REPEAT </a:t>
            </a:r>
          </a:p>
          <a:p>
            <a:pPr>
              <a:buFontTx/>
              <a:buNone/>
            </a:pPr>
            <a:r>
              <a:rPr lang="es-ES" sz="2400"/>
              <a:t>-- CODE DEL BUCLE </a:t>
            </a:r>
          </a:p>
          <a:p>
            <a:pPr>
              <a:buFontTx/>
              <a:buNone/>
            </a:pPr>
            <a:r>
              <a:rPr lang="es-ES" sz="2400" b="1"/>
              <a:t>UNTIL</a:t>
            </a:r>
            <a:r>
              <a:rPr lang="es-ES" sz="2400"/>
              <a:t> variable &gt;= 1 </a:t>
            </a:r>
          </a:p>
          <a:p>
            <a:pPr>
              <a:buFontTx/>
              <a:buNone/>
            </a:pPr>
            <a:r>
              <a:rPr lang="es-ES" sz="2400" b="1"/>
              <a:t>END REPEAT</a:t>
            </a:r>
            <a:r>
              <a:rPr lang="es-ES" sz="2400"/>
              <a:t>; </a:t>
            </a:r>
            <a:br>
              <a:rPr lang="es-ES" sz="2400"/>
            </a:br>
            <a:endParaRPr lang="es-ES" sz="2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052513"/>
            <a:ext cx="10972800" cy="452596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s-ES" sz="2400" b="1"/>
              <a:t>CASE</a:t>
            </a:r>
            <a:r>
              <a:rPr lang="es-ES" sz="2400"/>
              <a:t> (similar al </a:t>
            </a:r>
            <a:r>
              <a:rPr lang="es-ES" sz="2400" b="1"/>
              <a:t>SWITCH</a:t>
            </a:r>
            <a:r>
              <a:rPr lang="es-ES" sz="2400"/>
              <a:t> o </a:t>
            </a:r>
            <a:r>
              <a:rPr lang="es-ES" sz="2400" b="1"/>
              <a:t>SELEC CASE</a:t>
            </a:r>
            <a:r>
              <a:rPr lang="es-ES" sz="2400"/>
              <a:t> de algunos lenguajes de programación)</a:t>
            </a:r>
            <a:br>
              <a:rPr lang="es-ES" sz="2400"/>
            </a:br>
            <a:endParaRPr lang="es-ES" sz="2400"/>
          </a:p>
          <a:p>
            <a:pPr>
              <a:lnSpc>
                <a:spcPct val="80000"/>
              </a:lnSpc>
            </a:pPr>
            <a:endParaRPr lang="es-ES" sz="2400"/>
          </a:p>
          <a:p>
            <a:pPr>
              <a:lnSpc>
                <a:spcPct val="80000"/>
              </a:lnSpc>
            </a:pPr>
            <a:endParaRPr lang="es-ES" sz="2400"/>
          </a:p>
          <a:p>
            <a:pPr>
              <a:lnSpc>
                <a:spcPct val="80000"/>
              </a:lnSpc>
              <a:buFontTx/>
              <a:buNone/>
            </a:pPr>
            <a:r>
              <a:rPr lang="es-ES" sz="2400" b="1"/>
              <a:t>CASE </a:t>
            </a:r>
            <a:r>
              <a:rPr lang="es-ES" sz="2400"/>
              <a:t>variable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s-ES" sz="2400" b="1"/>
              <a:t>WHEN </a:t>
            </a:r>
            <a:r>
              <a:rPr lang="es-ES" sz="2400"/>
              <a:t>1 </a:t>
            </a:r>
            <a:r>
              <a:rPr lang="es-ES" sz="2400" b="1"/>
              <a:t>THEN </a:t>
            </a:r>
            <a:r>
              <a:rPr lang="es-ES" sz="2400"/>
              <a:t>-- que hacer en caso de que variable = 1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s-ES" sz="2400" b="1"/>
              <a:t>WHEN</a:t>
            </a:r>
            <a:r>
              <a:rPr lang="es-ES" sz="2400"/>
              <a:t> 2 </a:t>
            </a:r>
            <a:r>
              <a:rPr lang="es-ES" sz="2400" b="1"/>
              <a:t>THEN </a:t>
            </a:r>
            <a:r>
              <a:rPr lang="es-ES" sz="2400"/>
              <a:t>-- que hacer en caso de que variable = 2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s-ES" sz="2400" b="1"/>
              <a:t>WHEN</a:t>
            </a:r>
            <a:r>
              <a:rPr lang="es-ES" sz="2400"/>
              <a:t> x </a:t>
            </a:r>
            <a:r>
              <a:rPr lang="es-ES" sz="2400" b="1"/>
              <a:t>THEN</a:t>
            </a:r>
            <a:r>
              <a:rPr lang="es-ES" sz="2400"/>
              <a:t> -- que hacer en caso de que variable = x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s-ES" sz="2400" b="1"/>
              <a:t>ELSE</a:t>
            </a:r>
            <a:r>
              <a:rPr lang="es-ES" sz="2400"/>
              <a:t> -- que hacer en caso de que no se presente alguno de los casos anteriores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s-ES" sz="2400" b="1"/>
              <a:t>END CASE</a:t>
            </a:r>
            <a:r>
              <a:rPr lang="es-ES" sz="2400"/>
              <a:t>; </a:t>
            </a:r>
            <a:br>
              <a:rPr lang="es-ES" sz="2400"/>
            </a:br>
            <a:endParaRPr lang="es-ES" sz="2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2657837-CAE0-4C07-9A6B-18F8A9610E7A}"/>
              </a:ext>
            </a:extLst>
          </p:cNvPr>
          <p:cNvPicPr/>
          <p:nvPr/>
        </p:nvPicPr>
        <p:blipFill>
          <a:blip r:embed="rId2"/>
          <a:srcRect l="27665" t="35045" r="27359" b="23263"/>
          <a:stretch>
            <a:fillRect/>
          </a:stretch>
        </p:blipFill>
        <p:spPr bwMode="auto">
          <a:xfrm>
            <a:off x="1583635" y="1096618"/>
            <a:ext cx="9024729" cy="4664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150184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EA2E7BB-99E6-479E-B1D0-A619907BC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B466154-5DA0-4D0D-8EC8-0BD173BED50A}"/>
              </a:ext>
            </a:extLst>
          </p:cNvPr>
          <p:cNvSpPr txBox="1"/>
          <p:nvPr/>
        </p:nvSpPr>
        <p:spPr>
          <a:xfrm>
            <a:off x="2667000" y="6858000"/>
            <a:ext cx="685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900">
                <a:hlinkClick r:id="rId3" tooltip="https://es.wikiquote.org/wiki/Pregunta"/>
              </a:rPr>
              <a:t>Esta foto</a:t>
            </a:r>
            <a:r>
              <a:rPr lang="es-AR" sz="900"/>
              <a:t> de Autor desconocido está bajo licencia </a:t>
            </a:r>
            <a:r>
              <a:rPr lang="es-AR" sz="900">
                <a:hlinkClick r:id="rId4" tooltip="https://creativecommons.org/licenses/by-sa/3.0/"/>
              </a:rPr>
              <a:t>CC BY-SA</a:t>
            </a:r>
            <a:endParaRPr lang="es-AR" sz="900"/>
          </a:p>
        </p:txBody>
      </p:sp>
    </p:spTree>
    <p:extLst>
      <p:ext uri="{BB962C8B-B14F-4D97-AF65-F5344CB8AC3E}">
        <p14:creationId xmlns:p14="http://schemas.microsoft.com/office/powerpoint/2010/main" val="9734657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8D1E14"/>
      </a:dk2>
      <a:lt2>
        <a:srgbClr val="FF744E"/>
      </a:lt2>
      <a:accent1>
        <a:srgbClr val="E9B758"/>
      </a:accent1>
      <a:accent2>
        <a:srgbClr val="FE8943"/>
      </a:accent2>
      <a:accent3>
        <a:srgbClr val="AEA27C"/>
      </a:accent3>
      <a:accent4>
        <a:srgbClr val="90B46E"/>
      </a:accent4>
      <a:accent5>
        <a:srgbClr val="71AEC1"/>
      </a:accent5>
      <a:accent6>
        <a:srgbClr val="C98DE7"/>
      </a:accent6>
      <a:hlink>
        <a:srgbClr val="FF7A22"/>
      </a:hlink>
      <a:folHlink>
        <a:srgbClr val="FDCD86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2000"/>
                <a:satMod val="150000"/>
                <a:lumMod val="15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971C58-AB76-4A2A-B231-5F8CA03CF4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657</TotalTime>
  <Words>1130</Words>
  <Application>Microsoft Office PowerPoint</Application>
  <PresentationFormat>Panorámica</PresentationFormat>
  <Paragraphs>163</Paragraphs>
  <Slides>39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2" baseType="lpstr">
      <vt:lpstr>Arial</vt:lpstr>
      <vt:lpstr>Tw Cen MT</vt:lpstr>
      <vt:lpstr>Circuito</vt:lpstr>
      <vt:lpstr>Laboratorio de programación ii</vt:lpstr>
      <vt:lpstr>Que es un PA?</vt:lpstr>
      <vt:lpstr>Que es un PA?</vt:lpstr>
      <vt:lpstr>Ventajas</vt:lpstr>
      <vt:lpstr>Ventajas</vt:lpstr>
      <vt:lpstr>Ventajas</vt:lpstr>
      <vt:lpstr>Ventajas</vt:lpstr>
      <vt:lpstr>Rendimiento</vt:lpstr>
      <vt:lpstr>Rendimiento</vt:lpstr>
      <vt:lpstr>Rendimiento</vt:lpstr>
      <vt:lpstr>Rendimiento</vt:lpstr>
      <vt:lpstr>Rendimiento</vt:lpstr>
      <vt:lpstr>Marco de programación </vt:lpstr>
      <vt:lpstr>Marco de programación</vt:lpstr>
      <vt:lpstr>Marco de programación</vt:lpstr>
      <vt:lpstr>Seguridad </vt:lpstr>
      <vt:lpstr>Seguridad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Tecnicatura Universitaria en Desarrollo de software</dc:title>
  <dc:creator>Usuario</dc:creator>
  <cp:lastModifiedBy>Javier</cp:lastModifiedBy>
  <cp:revision>63</cp:revision>
  <dcterms:created xsi:type="dcterms:W3CDTF">2019-02-06T15:51:16Z</dcterms:created>
  <dcterms:modified xsi:type="dcterms:W3CDTF">2019-05-06T19:25:40Z</dcterms:modified>
</cp:coreProperties>
</file>
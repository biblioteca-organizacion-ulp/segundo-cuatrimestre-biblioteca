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312" r:id="rId28"/>
    <p:sldId id="286" r:id="rId29"/>
    <p:sldId id="287" r:id="rId30"/>
    <p:sldId id="288" r:id="rId31"/>
    <p:sldId id="289" r:id="rId32"/>
    <p:sldId id="311" r:id="rId33"/>
    <p:sldId id="313" r:id="rId34"/>
    <p:sldId id="301" r:id="rId35"/>
    <p:sldId id="302" r:id="rId36"/>
    <p:sldId id="303" r:id="rId37"/>
    <p:sldId id="304" r:id="rId38"/>
    <p:sldId id="305" r:id="rId39"/>
    <p:sldId id="314" r:id="rId40"/>
    <p:sldId id="25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2B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 showGuides="1">
      <p:cViewPr varScale="1">
        <p:scale>
          <a:sx n="65" d="100"/>
          <a:sy n="65" d="100"/>
        </p:scale>
        <p:origin x="66" y="234"/>
      </p:cViewPr>
      <p:guideLst>
        <p:guide orient="horz" pos="215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4" Type="http://schemas.openxmlformats.org/officeDocument/2006/relationships/tableStyles" Target="tableStyles.xml"/><Relationship Id="rId43" Type="http://schemas.openxmlformats.org/officeDocument/2006/relationships/viewProps" Target="viewProps.xml"/><Relationship Id="rId42" Type="http://schemas.openxmlformats.org/officeDocument/2006/relationships/presProps" Target="presProps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  <a:endParaRPr lang="en-US" sz="8000" dirty="0"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pn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8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  <a:endParaRPr lang="es-ES"/>
          </a:p>
          <a:p>
            <a:pPr lvl="1"/>
            <a:r>
              <a:rPr lang="es-ES"/>
              <a:t>Segundo nivel</a:t>
            </a:r>
            <a:endParaRPr lang="es-ES"/>
          </a:p>
          <a:p>
            <a:pPr lvl="2"/>
            <a:r>
              <a:rPr lang="es-ES"/>
              <a:t>Tercer nivel</a:t>
            </a:r>
            <a:endParaRPr lang="es-ES"/>
          </a:p>
          <a:p>
            <a:pPr lvl="3"/>
            <a:r>
              <a:rPr lang="es-ES"/>
              <a:t>Cuarto nivel</a:t>
            </a:r>
            <a:endParaRPr lang="es-ES"/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8CFFE6-35ED-44EA-8B97-0818B3961DD0}" type="datetimeFigureOut">
              <a:rPr lang="es-AR" smtClean="0"/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D31B5F-CBBD-4E77-9701-40E35D75C5FE}" type="slidenum">
              <a:rPr lang="es-AR" smtClean="0"/>
            </a:fld>
            <a:endParaRPr lang="es-A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hyperlink" Target="https://creativecommons.org/licenses/by-sa/3.0/" TargetMode="External"/><Relationship Id="rId2" Type="http://schemas.openxmlformats.org/officeDocument/2006/relationships/hyperlink" Target="https://es.wikiquote.org/wiki/Pregunta" TargetMode="Externa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228522" y="3248167"/>
            <a:ext cx="5963479" cy="3073235"/>
          </a:xfrm>
        </p:spPr>
        <p:txBody>
          <a:bodyPr>
            <a:normAutofit/>
          </a:bodyPr>
          <a:lstStyle/>
          <a:p>
            <a:r>
              <a:rPr lang="es-AR" dirty="0"/>
              <a:t>Laboratorio de programación </a:t>
            </a:r>
            <a:r>
              <a:rPr lang="es-AR" dirty="0" err="1"/>
              <a:t>ii</a:t>
            </a:r>
            <a:endParaRPr lang="es-AR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47"/>
            <a:ext cx="6228522" cy="6878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 dirty="0"/>
              <a:t>Que es un PA?</a:t>
            </a:r>
            <a:endParaRPr lang="es-E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b="1"/>
              <a:t>Un Procedimiento Almacenado es un programa autocontrolado escrito en lenguaje del DBMS, son almacenados como parte de la Base de Datos y sus metadatos. </a:t>
            </a:r>
            <a:endParaRPr lang="es-ES"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Que es un PA?</a:t>
            </a:r>
            <a:endParaRPr lang="es-ES"/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eaLnBrk="1" hangingPunct="1"/>
            <a:r>
              <a:rPr lang="es-ES" sz="2800" b="1">
                <a:solidFill>
                  <a:srgbClr val="FFFF00"/>
                </a:solidFill>
              </a:rPr>
              <a:t>Una vez creado un procedimiento almacenado, se puede invocar directamente desde una aplicación</a:t>
            </a:r>
            <a:r>
              <a:rPr lang="es-ES" sz="2800" b="1"/>
              <a:t>, o sustituir el nombre de una tabla o vista, por el nombre de procedimiento en cláusulas SELECT. </a:t>
            </a:r>
            <a:endParaRPr lang="es-ES" sz="2800" b="1"/>
          </a:p>
          <a:p>
            <a:pPr eaLnBrk="1" hangingPunct="1"/>
            <a:endParaRPr lang="es-ES" sz="2800" b="1"/>
          </a:p>
          <a:p>
            <a:pPr eaLnBrk="1" hangingPunct="1"/>
            <a:r>
              <a:rPr lang="es-ES" sz="2800" b="1">
                <a:solidFill>
                  <a:srgbClr val="FFFF00"/>
                </a:solidFill>
              </a:rPr>
              <a:t>Los procedimientos almacenados pueden recibir parámetros de entrada y retornar valores a la aplicación. </a:t>
            </a:r>
            <a:endParaRPr lang="es-ES" sz="2800" b="1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Ventajas</a:t>
            </a:r>
            <a:endParaRPr lang="es-ES"/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b="1"/>
              <a:t>Diseño modular. </a:t>
            </a:r>
            <a:endParaRPr lang="es-ES" b="1"/>
          </a:p>
          <a:p>
            <a:pPr eaLnBrk="1" hangingPunct="1"/>
            <a:r>
              <a:rPr lang="es-ES" b="1">
                <a:solidFill>
                  <a:srgbClr val="FFFF00"/>
                </a:solidFill>
              </a:rPr>
              <a:t>Aplicaciones que acceden la misma Base de Datos pueden compartir los procedimientos almacenados</a:t>
            </a:r>
            <a:r>
              <a:rPr lang="es-ES" b="1"/>
              <a:t>, eliminando el código doble y reduciendo el tamaño de las aplicaciones. </a:t>
            </a:r>
            <a:endParaRPr lang="es-ES" b="1"/>
          </a:p>
          <a:p>
            <a:pPr eaLnBrk="1" hangingPunct="1"/>
            <a:r>
              <a:rPr lang="es-ES" b="1"/>
              <a:t>El fácil mantenimiento. </a:t>
            </a:r>
            <a:endParaRPr lang="es-ES" b="1"/>
          </a:p>
          <a:p>
            <a:pPr eaLnBrk="1" hangingPunct="1"/>
            <a:endParaRPr lang="es-ES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Ventajas</a:t>
            </a:r>
            <a:endParaRPr lang="es-ES"/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b="1">
                <a:solidFill>
                  <a:srgbClr val="FFFF00"/>
                </a:solidFill>
              </a:rPr>
              <a:t>Cuando un procedimiento se actualiza, los cambios se reflejan automáticamente </a:t>
            </a:r>
            <a:r>
              <a:rPr lang="es-ES" b="1"/>
              <a:t>en todas las aplicaciones, sin la necesidad de recompilar y re linkear. Las aplicaciones son compiladas sólo una vez para cada cliente. </a:t>
            </a:r>
            <a:endParaRPr lang="es-ES" b="1"/>
          </a:p>
          <a:p>
            <a:pPr eaLnBrk="1" hangingPunct="1"/>
            <a:endParaRPr lang="es-ES"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Ventajas</a:t>
            </a:r>
            <a:endParaRPr lang="es-ES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b="1">
                <a:solidFill>
                  <a:srgbClr val="FFFF00"/>
                </a:solidFill>
              </a:rPr>
              <a:t>Los procedimientos almacenados son ejecutados por el servidor</a:t>
            </a:r>
            <a:r>
              <a:rPr lang="es-ES" b="1"/>
              <a:t>, no por el cliente lo que reduce el tráfico en la red y mejora el performance o desempeño, especialmente para el acceso del cliente remoto.  </a:t>
            </a:r>
            <a:endParaRPr lang="es-ES" b="1"/>
          </a:p>
          <a:p>
            <a:pPr eaLnBrk="1" hangingPunct="1"/>
            <a:endParaRPr lang="es-ES" b="1"/>
          </a:p>
          <a:p>
            <a:pPr eaLnBrk="1" hangingPunct="1"/>
            <a:endParaRPr lang="es-ES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Ventajas</a:t>
            </a:r>
            <a:endParaRPr lang="es-ES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b="1">
                <a:solidFill>
                  <a:srgbClr val="FFFF00"/>
                </a:solidFill>
              </a:rPr>
              <a:t>Están almacenados en los servidores y asegurados por las medidas tomadas en la instalación, </a:t>
            </a:r>
            <a:r>
              <a:rPr lang="es-ES" b="1"/>
              <a:t>lo que impide que los usuarios normales puedan modificarlos e incluso desconocen su existencia. Este es un elemento de gran valor en lo que a seguridad respecta</a:t>
            </a:r>
            <a:endParaRPr lang="es-ES"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Rendimiento</a:t>
            </a:r>
            <a:endParaRPr lang="es-ES"/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s-ES" sz="2800" dirty="0"/>
              <a:t>Cada vez que un comando 	PL-SQL, o conjunto de comandos, es enviado el servidor para su procesamiento, el servidor debe determinar si el remitente tiene suficientes privilegios para ejecutar esos comandos y si los comandos son válidos. </a:t>
            </a:r>
            <a:endParaRPr lang="es-ES" sz="2800" dirty="0"/>
          </a:p>
          <a:p>
            <a:pPr eaLnBrk="1" hangingPunct="1">
              <a:lnSpc>
                <a:spcPct val="90000"/>
              </a:lnSpc>
            </a:pPr>
            <a:endParaRPr lang="es-ES" sz="2800" dirty="0"/>
          </a:p>
          <a:p>
            <a:pPr eaLnBrk="1" hangingPunct="1">
              <a:lnSpc>
                <a:spcPct val="90000"/>
              </a:lnSpc>
            </a:pPr>
            <a:r>
              <a:rPr lang="es-ES" sz="2800" dirty="0"/>
              <a:t>Una vez que los permisos y la sintaxis de los comandos se han verificado, </a:t>
            </a:r>
            <a:r>
              <a:rPr lang="es-ES" sz="2800" dirty="0" err="1"/>
              <a:t>MySQL</a:t>
            </a:r>
            <a:r>
              <a:rPr lang="es-ES" sz="2800" dirty="0"/>
              <a:t> construye un plan de ejecución para procesar el pedido. </a:t>
            </a:r>
            <a:endParaRPr lang="es-E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Rendimiento</a:t>
            </a:r>
            <a:endParaRPr lang="es-ES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 dirty="0"/>
              <a:t>Los procedimientos almacenados son más eficientes en parte porque el procedimiento es almacenado en el Server cuando se crea</a:t>
            </a:r>
            <a:endParaRPr lang="es-ES" dirty="0"/>
          </a:p>
          <a:p>
            <a:pPr eaLnBrk="1" hangingPunct="1"/>
            <a:r>
              <a:rPr lang="es-ES" dirty="0"/>
              <a:t>La sintaxis de los comandos contenidos en un procedimiento almacenado se comprueba que este libre de errores antes de ser guardado. </a:t>
            </a:r>
            <a:endParaRPr lang="es-E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Rendimiento</a:t>
            </a:r>
            <a:endParaRPr lang="es-ES"/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es-ES" sz="2800"/>
              <a:t>El nombre del procedimiento almacenado se almacena en la tabla </a:t>
            </a:r>
            <a:r>
              <a:rPr lang="es-ES" sz="2800">
                <a:solidFill>
                  <a:srgbClr val="FFFF00"/>
                </a:solidFill>
              </a:rPr>
              <a:t>SysObjects</a:t>
            </a:r>
            <a:r>
              <a:rPr lang="es-ES" sz="2800"/>
              <a:t>, mientras que el texto del procedimiento se guarda en la tabla </a:t>
            </a:r>
            <a:r>
              <a:rPr lang="es-ES" sz="2800">
                <a:solidFill>
                  <a:srgbClr val="FFFF00"/>
                </a:solidFill>
                <a:highlight>
                  <a:srgbClr val="000000">
                    <a:alpha val="0"/>
                  </a:srgbClr>
                </a:highlight>
              </a:rPr>
              <a:t>SysComments.</a:t>
            </a:r>
            <a:r>
              <a:rPr lang="es-ES" sz="2800">
                <a:highlight>
                  <a:srgbClr val="00FF00"/>
                </a:highlight>
              </a:rPr>
              <a:t> </a:t>
            </a:r>
            <a:endParaRPr lang="es-ES" sz="2800"/>
          </a:p>
          <a:p>
            <a:pPr eaLnBrk="1" hangingPunct="1"/>
            <a:endParaRPr lang="es-CL" sz="2800"/>
          </a:p>
          <a:p>
            <a:pPr eaLnBrk="1" hangingPunct="1"/>
            <a:r>
              <a:rPr lang="es-ES" sz="2800"/>
              <a:t>Invocar al procedimiento almacenado implica ejecutar un solo comando en vez de cientos de comandos que un procedimiento almacenado podría contener. </a:t>
            </a:r>
            <a:endParaRPr lang="es-ES" sz="2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Rendimiento</a:t>
            </a:r>
            <a:endParaRPr lang="es-ES"/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600200"/>
            <a:ext cx="11582400" cy="5257800"/>
          </a:xfrm>
        </p:spPr>
        <p:txBody>
          <a:bodyPr/>
          <a:lstStyle/>
          <a:p>
            <a:pPr eaLnBrk="1" hangingPunct="1"/>
            <a:r>
              <a:rPr lang="es-ES" dirty="0"/>
              <a:t>La primera vez que se ejecuta el procedimiento, se crea un plan de ejecución y se compila al procedimiento almacenado </a:t>
            </a:r>
            <a:endParaRPr lang="es-ES" dirty="0"/>
          </a:p>
          <a:p>
            <a:pPr eaLnBrk="1" hangingPunct="1"/>
            <a:endParaRPr lang="es-CL" dirty="0"/>
          </a:p>
          <a:p>
            <a:pPr eaLnBrk="1" hangingPunct="1"/>
            <a:r>
              <a:rPr lang="es-ES" dirty="0">
                <a:solidFill>
                  <a:srgbClr val="FFFF00"/>
                </a:solidFill>
              </a:rPr>
              <a:t>Los procesamientos subsecuentes del procedimiento almacenado son mucho más rápidos ya que el Server no vuelve a controlar la sintaxis</a:t>
            </a:r>
            <a:r>
              <a:rPr lang="es-ES" dirty="0"/>
              <a:t>, ni recrea un plan de ejecución, ni se recompila el procedimiento. </a:t>
            </a:r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Rendimiento</a:t>
            </a:r>
            <a:endParaRPr lang="es-ES"/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>
                <a:solidFill>
                  <a:srgbClr val="FFFF00"/>
                </a:solidFill>
              </a:rPr>
              <a:t>Por último se verifica el caché por si ya existe un plan de ejecución</a:t>
            </a:r>
            <a:r>
              <a:rPr lang="es-ES"/>
              <a:t> para ese procedimiento antes de generar un nuevo plan de ejecución. </a:t>
            </a:r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b="1"/>
              <a:t>Marco de programación</a:t>
            </a:r>
            <a:r>
              <a:rPr lang="es-ES"/>
              <a:t> </a:t>
            </a:r>
            <a:endParaRPr lang="es-ES"/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>
                <a:solidFill>
                  <a:srgbClr val="FFFF00"/>
                </a:solidFill>
              </a:rPr>
              <a:t>Una vez que se crea un procedimiento almacenado, puede ser llamado todas las veces que sea necesario</a:t>
            </a:r>
            <a:r>
              <a:rPr lang="es-ES">
                <a:highlight>
                  <a:srgbClr val="00FF00"/>
                </a:highlight>
              </a:rPr>
              <a:t> </a:t>
            </a:r>
            <a:endParaRPr lang="es-ES">
              <a:highlight>
                <a:srgbClr val="00FF00"/>
              </a:highlight>
            </a:endParaRPr>
          </a:p>
          <a:p>
            <a:pPr eaLnBrk="1" hangingPunct="1"/>
            <a:endParaRPr lang="es-CL"/>
          </a:p>
          <a:p>
            <a:pPr eaLnBrk="1" hangingPunct="1"/>
            <a:r>
              <a:rPr lang="es-ES"/>
              <a:t>Esta capacidad provee modulación y habilita la reutilización del código. </a:t>
            </a:r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b="1"/>
              <a:t>Marco de programación</a:t>
            </a:r>
            <a:endParaRPr lang="es-ES" b="1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s-ES"/>
              <a:t>La reutilización del código mejora el mantenimiento de la base de datos al aislar la base de datos de los cambios en las prácticas del negocio. </a:t>
            </a:r>
            <a:endParaRPr lang="es-ES"/>
          </a:p>
          <a:p>
            <a:pPr eaLnBrk="1" hangingPunct="1">
              <a:lnSpc>
                <a:spcPct val="90000"/>
              </a:lnSpc>
            </a:pPr>
            <a:endParaRPr lang="es-ES"/>
          </a:p>
          <a:p>
            <a:pPr eaLnBrk="1" hangingPunct="1">
              <a:lnSpc>
                <a:spcPct val="90000"/>
              </a:lnSpc>
            </a:pPr>
            <a:r>
              <a:rPr lang="es-ES"/>
              <a:t>Si las reglas de negocios cambian en una organización, </a:t>
            </a:r>
            <a:r>
              <a:rPr lang="es-ES">
                <a:solidFill>
                  <a:srgbClr val="FFFF00"/>
                </a:solidFill>
              </a:rPr>
              <a:t>se puede modificar a los procedimientos almacenados</a:t>
            </a:r>
            <a:r>
              <a:rPr lang="es-ES"/>
              <a:t> para cumplir con las nuevas reglas de negocio. </a:t>
            </a:r>
            <a:endParaRPr lang="es-E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b="1"/>
              <a:t>Marco de programación</a:t>
            </a:r>
            <a:endParaRPr lang="es-ES" b="1"/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s-ES"/>
              <a:t>Todas las aplicaciones que llaman a esos procedimientos almacenados cumplirán con la nuevas reglas, sin tener que ser directamente modificados.</a:t>
            </a:r>
            <a:endParaRPr lang="es-ES"/>
          </a:p>
          <a:p>
            <a:pPr eaLnBrk="1" hangingPunct="1"/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ES" sz="4000" b="1"/>
              <a:t>Seguridad</a:t>
            </a:r>
            <a:br>
              <a:rPr lang="es-ES" sz="4000"/>
            </a:br>
            <a:endParaRPr lang="es-ES" sz="4000"/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s-ES" sz="2800"/>
              <a:t>Otro capacidad importante de los procedimientos almacenados es que mejoran la seguridad a través de la </a:t>
            </a:r>
            <a:r>
              <a:rPr lang="es-ES" sz="2800">
                <a:solidFill>
                  <a:srgbClr val="FFFF00"/>
                </a:solidFill>
              </a:rPr>
              <a:t>encriptación y el aislamiento. </a:t>
            </a:r>
            <a:endParaRPr lang="es-ES" sz="2800">
              <a:solidFill>
                <a:srgbClr val="FFFF00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s-ES" sz="2800"/>
          </a:p>
          <a:p>
            <a:pPr eaLnBrk="1" hangingPunct="1">
              <a:lnSpc>
                <a:spcPct val="90000"/>
              </a:lnSpc>
            </a:pPr>
            <a:r>
              <a:rPr lang="es-ES" sz="2800"/>
              <a:t>Los usuarios de las bases de datos pueden tener permisos de ejecutar un procedimiento almacenado sin tenerlos para acceder directamente a los objetos de la bases de datos sobre las que opera el procedimiento almacenado. </a:t>
            </a:r>
            <a:endParaRPr lang="es-ES" sz="2800"/>
          </a:p>
          <a:p>
            <a:pPr eaLnBrk="1" hangingPunct="1">
              <a:lnSpc>
                <a:spcPct val="90000"/>
              </a:lnSpc>
            </a:pPr>
            <a:endParaRPr lang="es-ES" sz="2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s-CL"/>
              <a:t>Seguridad</a:t>
            </a:r>
            <a:endParaRPr lang="es-ES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s-ES" sz="2800" dirty="0">
                <a:solidFill>
                  <a:srgbClr val="FFFF00"/>
                </a:solidFill>
              </a:rPr>
              <a:t>Además un procedimiento almacenado puede ser encriptado</a:t>
            </a:r>
            <a:r>
              <a:rPr lang="es-ES" sz="2800" dirty="0"/>
              <a:t> cuando se lo crea o modifica inhabilitando a los usuarios a leer los comandos PL-SQL contenidos en el procedimiento almacenado. </a:t>
            </a:r>
            <a:endParaRPr lang="es-ES" sz="2800" dirty="0"/>
          </a:p>
          <a:p>
            <a:pPr eaLnBrk="1" hangingPunct="1">
              <a:lnSpc>
                <a:spcPct val="90000"/>
              </a:lnSpc>
            </a:pPr>
            <a:endParaRPr lang="es-ES" sz="2800" dirty="0"/>
          </a:p>
          <a:p>
            <a:pPr eaLnBrk="1" hangingPunct="1">
              <a:lnSpc>
                <a:spcPct val="90000"/>
              </a:lnSpc>
            </a:pPr>
            <a:r>
              <a:rPr lang="es-ES" sz="2800" dirty="0"/>
              <a:t>Esta capacidad de seguridad permite aislar la estructura de la base de datos del usuario de la base de datos, con la consiguiente ganancia en seguridad.</a:t>
            </a:r>
            <a:endParaRPr lang="es-ES" sz="2800" dirty="0"/>
          </a:p>
          <a:p>
            <a:pPr eaLnBrk="1" hangingPunct="1">
              <a:lnSpc>
                <a:spcPct val="90000"/>
              </a:lnSpc>
            </a:pPr>
            <a:endParaRPr lang="es-E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5" name="Rectangle 3"/>
          <p:cNvSpPr>
            <a:spLocks noGrp="1" noChangeArrowheads="1"/>
          </p:cNvSpPr>
          <p:nvPr>
            <p:ph idx="1"/>
          </p:nvPr>
        </p:nvSpPr>
        <p:spPr>
          <a:xfrm>
            <a:off x="931333" y="789306"/>
            <a:ext cx="11260667" cy="452596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s-ES" sz="2600" b="1" dirty="0"/>
              <a:t>Sintaxis general:</a:t>
            </a:r>
            <a:endParaRPr lang="es-ES" sz="2600" b="1" dirty="0"/>
          </a:p>
          <a:p>
            <a:pPr>
              <a:lnSpc>
                <a:spcPct val="90000"/>
              </a:lnSpc>
              <a:buFontTx/>
              <a:buNone/>
            </a:pPr>
            <a:endParaRPr lang="es-ES" sz="2600" b="1" dirty="0"/>
          </a:p>
          <a:p>
            <a:pPr>
              <a:lnSpc>
                <a:spcPct val="90000"/>
              </a:lnSpc>
              <a:buFontTx/>
              <a:buNone/>
            </a:pPr>
            <a:endParaRPr lang="es-ES" sz="2600" b="1" dirty="0"/>
          </a:p>
          <a:p>
            <a:pPr>
              <a:lnSpc>
                <a:spcPct val="90000"/>
              </a:lnSpc>
              <a:buFontTx/>
              <a:buNone/>
            </a:pPr>
            <a:r>
              <a:rPr lang="es-ES" sz="2600" b="1" dirty="0">
                <a:solidFill>
                  <a:srgbClr val="FFFF00"/>
                </a:solidFill>
              </a:rPr>
              <a:t>CREATE PROCEDURE </a:t>
            </a:r>
            <a:r>
              <a:rPr lang="es-ES" sz="2600" b="1" dirty="0" err="1">
                <a:solidFill>
                  <a:srgbClr val="FFFF00"/>
                </a:solidFill>
              </a:rPr>
              <a:t>sp_name</a:t>
            </a:r>
            <a:r>
              <a:rPr lang="es-ES" sz="2600" b="1" dirty="0">
                <a:solidFill>
                  <a:srgbClr val="FFFF00"/>
                </a:solidFill>
              </a:rPr>
              <a:t> ([ </a:t>
            </a:r>
            <a:r>
              <a:rPr lang="es-ES" sz="2600" b="1" dirty="0" err="1">
                <a:solidFill>
                  <a:srgbClr val="FFFF00"/>
                </a:solidFill>
              </a:rPr>
              <a:t>parameter</a:t>
            </a:r>
            <a:r>
              <a:rPr lang="es-ES" sz="2600" b="1" dirty="0">
                <a:solidFill>
                  <a:srgbClr val="FFFF00"/>
                </a:solidFill>
              </a:rPr>
              <a:t>[ ,…] ] )</a:t>
            </a:r>
            <a:endParaRPr lang="es-ES" sz="2600" b="1" dirty="0">
              <a:solidFill>
                <a:srgbClr val="FFFF00"/>
              </a:solidFill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s-ES" sz="2600" b="1" dirty="0" err="1">
                <a:solidFill>
                  <a:srgbClr val="FFFF00"/>
                </a:solidFill>
              </a:rPr>
              <a:t>routine_body</a:t>
            </a:r>
            <a:endParaRPr lang="es-ES" sz="2600" b="1" dirty="0">
              <a:solidFill>
                <a:srgbClr val="FFFF00"/>
              </a:solidFill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s-ES" sz="2600" b="1" dirty="0"/>
          </a:p>
          <a:p>
            <a:pPr>
              <a:lnSpc>
                <a:spcPct val="90000"/>
              </a:lnSpc>
              <a:buFontTx/>
              <a:buNone/>
            </a:pPr>
            <a:r>
              <a:rPr lang="es-ES" sz="2600" dirty="0"/>
              <a:t>Donde:</a:t>
            </a:r>
            <a:endParaRPr lang="es-ES" sz="2600" dirty="0"/>
          </a:p>
          <a:p>
            <a:pPr>
              <a:lnSpc>
                <a:spcPct val="90000"/>
              </a:lnSpc>
            </a:pPr>
            <a:r>
              <a:rPr lang="es-ES" sz="2600" b="1" dirty="0" err="1"/>
              <a:t>parameter</a:t>
            </a:r>
            <a:r>
              <a:rPr lang="es-ES" sz="2600" dirty="0"/>
              <a:t>: [ IN | OUT | INOUT ] </a:t>
            </a:r>
            <a:r>
              <a:rPr lang="es-ES" sz="2600" dirty="0" err="1"/>
              <a:t>param_name</a:t>
            </a:r>
            <a:r>
              <a:rPr lang="es-ES" sz="2600" dirty="0"/>
              <a:t> </a:t>
            </a:r>
            <a:r>
              <a:rPr lang="es-ES" sz="2600" dirty="0" err="1"/>
              <a:t>type</a:t>
            </a:r>
            <a:r>
              <a:rPr lang="es-ES" sz="2600" dirty="0"/>
              <a:t> </a:t>
            </a:r>
            <a:endParaRPr lang="es-ES" sz="2600" dirty="0"/>
          </a:p>
          <a:p>
            <a:pPr>
              <a:lnSpc>
                <a:spcPct val="90000"/>
              </a:lnSpc>
            </a:pPr>
            <a:r>
              <a:rPr lang="es-ES" sz="2600" b="1" dirty="0" err="1"/>
              <a:t>type</a:t>
            </a:r>
            <a:r>
              <a:rPr lang="es-ES" sz="2600" dirty="0"/>
              <a:t>: Cualquier tipo de dato válido para </a:t>
            </a:r>
            <a:r>
              <a:rPr lang="es-ES" sz="2600" dirty="0" err="1"/>
              <a:t>mysql</a:t>
            </a:r>
            <a:r>
              <a:rPr lang="es-ES" sz="2600" dirty="0"/>
              <a:t>.</a:t>
            </a:r>
            <a:endParaRPr lang="es-ES" sz="2600" dirty="0"/>
          </a:p>
          <a:p>
            <a:pPr>
              <a:lnSpc>
                <a:spcPct val="90000"/>
              </a:lnSpc>
            </a:pPr>
            <a:r>
              <a:rPr lang="es-ES" sz="2600" b="1" dirty="0" err="1"/>
              <a:t>routine_body</a:t>
            </a:r>
            <a:r>
              <a:rPr lang="es-ES" sz="2600" dirty="0"/>
              <a:t>: comandos SQL válidos </a:t>
            </a:r>
            <a:endParaRPr lang="es-ES" sz="2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9" name="Rectangle 3"/>
          <p:cNvSpPr>
            <a:spLocks noGrp="1" noChangeArrowheads="1"/>
          </p:cNvSpPr>
          <p:nvPr>
            <p:ph idx="1"/>
          </p:nvPr>
        </p:nvSpPr>
        <p:spPr>
          <a:xfrm>
            <a:off x="1170107" y="1465930"/>
            <a:ext cx="9596215" cy="4525963"/>
          </a:xfrm>
        </p:spPr>
        <p:txBody>
          <a:bodyPr/>
          <a:lstStyle/>
          <a:p>
            <a:pPr>
              <a:buFontTx/>
              <a:buNone/>
            </a:pPr>
            <a:r>
              <a:rPr lang="es-ES" sz="2600" b="1" dirty="0">
                <a:solidFill>
                  <a:srgbClr val="92D050"/>
                </a:solidFill>
              </a:rPr>
              <a:t>CREATE PROCEDURE </a:t>
            </a:r>
            <a:r>
              <a:rPr lang="es-ES" sz="2600" b="1" dirty="0" err="1">
                <a:solidFill>
                  <a:srgbClr val="92D050"/>
                </a:solidFill>
              </a:rPr>
              <a:t>sp_name</a:t>
            </a:r>
            <a:r>
              <a:rPr lang="es-ES" sz="2600" b="1" dirty="0">
                <a:solidFill>
                  <a:srgbClr val="92D050"/>
                </a:solidFill>
              </a:rPr>
              <a:t> ([ </a:t>
            </a:r>
            <a:r>
              <a:rPr lang="es-ES" sz="2600" b="1" dirty="0" err="1">
                <a:solidFill>
                  <a:srgbClr val="92D050"/>
                </a:solidFill>
              </a:rPr>
              <a:t>parameter</a:t>
            </a:r>
            <a:r>
              <a:rPr lang="es-ES" sz="2600" b="1" dirty="0">
                <a:solidFill>
                  <a:srgbClr val="92D050"/>
                </a:solidFill>
              </a:rPr>
              <a:t>[ ,…] ] )</a:t>
            </a:r>
            <a:endParaRPr lang="es-ES" sz="2600" b="1" dirty="0">
              <a:solidFill>
                <a:srgbClr val="92D050"/>
              </a:solidFill>
            </a:endParaRPr>
          </a:p>
          <a:p>
            <a:pPr>
              <a:buFontTx/>
              <a:buNone/>
            </a:pPr>
            <a:r>
              <a:rPr lang="es-ES" sz="2600" b="1" dirty="0" err="1">
                <a:solidFill>
                  <a:srgbClr val="00B0F0"/>
                </a:solidFill>
              </a:rPr>
              <a:t>routine_body</a:t>
            </a:r>
            <a:endParaRPr lang="es-ES" sz="2600" b="1" dirty="0">
              <a:solidFill>
                <a:srgbClr val="00B0F0"/>
              </a:solidFill>
            </a:endParaRPr>
          </a:p>
          <a:p>
            <a:endParaRPr lang="es-ES" dirty="0"/>
          </a:p>
          <a:p>
            <a:r>
              <a:rPr lang="es-ES" dirty="0">
                <a:solidFill>
                  <a:srgbClr val="92D050"/>
                </a:solidFill>
              </a:rPr>
              <a:t>Bloque Cabecera</a:t>
            </a:r>
            <a:endParaRPr lang="es-ES" dirty="0">
              <a:solidFill>
                <a:srgbClr val="92D050"/>
              </a:solidFill>
            </a:endParaRPr>
          </a:p>
          <a:p>
            <a:r>
              <a:rPr lang="es-ES" dirty="0">
                <a:solidFill>
                  <a:srgbClr val="00B0F0"/>
                </a:solidFill>
              </a:rPr>
              <a:t>Bloque de Ejecución</a:t>
            </a:r>
            <a:endParaRPr lang="es-ES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3" name="Rectangle 3"/>
          <p:cNvSpPr>
            <a:spLocks noGrp="1" noChangeArrowheads="1"/>
          </p:cNvSpPr>
          <p:nvPr>
            <p:ph idx="1"/>
          </p:nvPr>
        </p:nvSpPr>
        <p:spPr>
          <a:xfrm>
            <a:off x="1155290" y="1166019"/>
            <a:ext cx="8932606" cy="4525962"/>
          </a:xfrm>
        </p:spPr>
        <p:txBody>
          <a:bodyPr/>
          <a:lstStyle/>
          <a:p>
            <a:r>
              <a:rPr lang="es-ES" dirty="0">
                <a:solidFill>
                  <a:srgbClr val="FFFF00"/>
                </a:solidFill>
              </a:rPr>
              <a:t>Tipos de Programas en el lado del servidor:</a:t>
            </a:r>
            <a:endParaRPr lang="es-ES" dirty="0">
              <a:solidFill>
                <a:srgbClr val="FFFF00"/>
              </a:solidFill>
            </a:endParaRPr>
          </a:p>
          <a:p>
            <a:endParaRPr lang="es-ES" dirty="0">
              <a:solidFill>
                <a:srgbClr val="FFFF00"/>
              </a:solidFill>
            </a:endParaRPr>
          </a:p>
          <a:p>
            <a:r>
              <a:rPr lang="es-ES" b="1" dirty="0">
                <a:solidFill>
                  <a:srgbClr val="FFFF00"/>
                </a:solidFill>
              </a:rPr>
              <a:t>Procedimientos almacenados </a:t>
            </a:r>
            <a:endParaRPr lang="es-ES" b="1" dirty="0">
              <a:solidFill>
                <a:srgbClr val="FFFF00"/>
              </a:solidFill>
            </a:endParaRPr>
          </a:p>
          <a:p>
            <a:r>
              <a:rPr lang="es-ES" b="1" dirty="0">
                <a:solidFill>
                  <a:srgbClr val="FFFF00"/>
                </a:solidFill>
              </a:rPr>
              <a:t>Funciones de Usuario.</a:t>
            </a:r>
            <a:endParaRPr lang="es-ES" b="1" dirty="0">
              <a:solidFill>
                <a:srgbClr val="FFFF00"/>
              </a:solidFill>
            </a:endParaRPr>
          </a:p>
          <a:p>
            <a:endParaRPr lang="es-ES" b="1" dirty="0">
              <a:solidFill>
                <a:srgbClr val="FFFF00"/>
              </a:solidFill>
            </a:endParaRPr>
          </a:p>
          <a:p>
            <a:r>
              <a:rPr lang="es-ES" dirty="0" err="1">
                <a:solidFill>
                  <a:srgbClr val="FFFF00"/>
                </a:solidFill>
              </a:rPr>
              <a:t>Triggers</a:t>
            </a:r>
            <a:r>
              <a:rPr lang="es-ES" dirty="0">
                <a:solidFill>
                  <a:srgbClr val="FFFF00"/>
                </a:solidFill>
              </a:rPr>
              <a:t>. (se verá después)</a:t>
            </a:r>
            <a:endParaRPr lang="es-ES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s-ES" sz="2800">
                <a:solidFill>
                  <a:srgbClr val="FFFF00"/>
                </a:solidFill>
              </a:rPr>
              <a:t>El punto y coma (;) es el delimitador por defecto.</a:t>
            </a:r>
            <a:endParaRPr lang="es-ES" sz="2800"/>
          </a:p>
          <a:p>
            <a:r>
              <a:rPr lang="es-ES" sz="2800"/>
              <a:t>Los procedimientos almacenados y funciones pueden contener varias sentencias que terminan con este delimitador. </a:t>
            </a:r>
            <a:endParaRPr lang="es-ES" sz="2800"/>
          </a:p>
          <a:p>
            <a:r>
              <a:rPr lang="es-ES" sz="2800">
                <a:solidFill>
                  <a:srgbClr val="FFFF00"/>
                </a:solidFill>
                <a:highlight>
                  <a:srgbClr val="000000"/>
                </a:highlight>
              </a:rPr>
              <a:t>Se debe indicar a MySQL que temporalmente NO lo usaremos como carácter delimitador, eso lo haremos usando la sentencia </a:t>
            </a:r>
            <a:r>
              <a:rPr lang="es-ES" sz="2800" b="1">
                <a:solidFill>
                  <a:srgbClr val="FFFF00"/>
                </a:solidFill>
                <a:highlight>
                  <a:srgbClr val="000000"/>
                </a:highlight>
              </a:rPr>
              <a:t>DELIMITER</a:t>
            </a:r>
            <a:r>
              <a:rPr lang="es-ES" sz="2800">
                <a:solidFill>
                  <a:srgbClr val="FFFF00"/>
                </a:solidFill>
                <a:highlight>
                  <a:srgbClr val="000000"/>
                </a:highlight>
              </a:rPr>
              <a:t>.</a:t>
            </a:r>
            <a:br>
              <a:rPr lang="es-ES" sz="2800">
                <a:solidFill>
                  <a:srgbClr val="FFFF00"/>
                </a:solidFill>
                <a:highlight>
                  <a:srgbClr val="000000"/>
                </a:highlight>
              </a:rPr>
            </a:br>
            <a:endParaRPr lang="es-ES" sz="2800">
              <a:solidFill>
                <a:srgbClr val="FFFF00"/>
              </a:solidFill>
              <a:highlight>
                <a:srgbClr val="000000"/>
              </a:highlight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501" y="1555957"/>
            <a:ext cx="9746174" cy="374608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5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774701"/>
            <a:ext cx="10972800" cy="4525963"/>
          </a:xfrm>
        </p:spPr>
        <p:txBody>
          <a:bodyPr>
            <a:normAutofit fontScale="92500" lnSpcReduction="20000"/>
          </a:bodyPr>
          <a:lstStyle/>
          <a:p>
            <a:pPr algn="just">
              <a:lnSpc>
                <a:spcPct val="80000"/>
              </a:lnSpc>
            </a:pPr>
            <a:r>
              <a:rPr lang="es-ES" sz="2400" b="1"/>
              <a:t>BEGIN - END</a:t>
            </a:r>
            <a:endParaRPr lang="es-ES" sz="2400" b="1"/>
          </a:p>
          <a:p>
            <a:pPr algn="just">
              <a:lnSpc>
                <a:spcPct val="80000"/>
              </a:lnSpc>
            </a:pPr>
            <a:endParaRPr lang="es-ES" sz="2400"/>
          </a:p>
          <a:p>
            <a:pPr algn="just">
              <a:lnSpc>
                <a:spcPct val="80000"/>
              </a:lnSpc>
              <a:buFontTx/>
              <a:buNone/>
            </a:pPr>
            <a:endParaRPr lang="es-ES" sz="2400"/>
          </a:p>
          <a:p>
            <a:pPr algn="just">
              <a:lnSpc>
                <a:spcPct val="80000"/>
              </a:lnSpc>
            </a:pPr>
            <a:r>
              <a:rPr lang="es-ES" sz="2400" b="1"/>
              <a:t>[etiqueta_inicio:] BEGIN </a:t>
            </a:r>
            <a:endParaRPr lang="es-ES" sz="2400" b="1"/>
          </a:p>
          <a:p>
            <a:pPr algn="just">
              <a:lnSpc>
                <a:spcPct val="80000"/>
              </a:lnSpc>
            </a:pPr>
            <a:r>
              <a:rPr lang="es-ES" sz="2400" b="1"/>
              <a:t>[lista_sentencias] </a:t>
            </a:r>
            <a:endParaRPr lang="es-ES" sz="2400" b="1"/>
          </a:p>
          <a:p>
            <a:pPr algn="just">
              <a:lnSpc>
                <a:spcPct val="80000"/>
              </a:lnSpc>
            </a:pPr>
            <a:r>
              <a:rPr lang="es-ES" sz="2400" b="1"/>
              <a:t>END [etiqueta_fin] </a:t>
            </a:r>
            <a:endParaRPr lang="es-ES" sz="2400" b="1"/>
          </a:p>
          <a:p>
            <a:pPr algn="just">
              <a:lnSpc>
                <a:spcPct val="80000"/>
              </a:lnSpc>
            </a:pPr>
            <a:endParaRPr lang="es-ES" sz="2400" b="1"/>
          </a:p>
          <a:p>
            <a:pPr algn="just">
              <a:lnSpc>
                <a:spcPct val="80000"/>
              </a:lnSpc>
            </a:pPr>
            <a:r>
              <a:rPr lang="es-ES" sz="2400">
                <a:solidFill>
                  <a:srgbClr val="FFFF00"/>
                </a:solidFill>
              </a:rPr>
              <a:t>La sintaxis </a:t>
            </a:r>
            <a:r>
              <a:rPr lang="es-ES" sz="2400" b="1">
                <a:solidFill>
                  <a:srgbClr val="FFFF00"/>
                </a:solidFill>
              </a:rPr>
              <a:t>BEGIN ... END</a:t>
            </a:r>
            <a:r>
              <a:rPr lang="es-ES" sz="2400">
                <a:solidFill>
                  <a:srgbClr val="FFFF00"/>
                </a:solidFill>
              </a:rPr>
              <a:t> se utiliza para escribir sentencias compuestas que pueden aparecer en el interior de procedimientos almacenados. </a:t>
            </a:r>
            <a:endParaRPr lang="es-ES" sz="2400">
              <a:solidFill>
                <a:srgbClr val="FFFF00"/>
              </a:solidFill>
            </a:endParaRPr>
          </a:p>
          <a:p>
            <a:pPr algn="just">
              <a:lnSpc>
                <a:spcPct val="80000"/>
              </a:lnSpc>
            </a:pPr>
            <a:r>
              <a:rPr lang="es-ES" sz="2400"/>
              <a:t>Una sentencia compuesta puede contener múltiples sentencias, encerradas por las palabras </a:t>
            </a:r>
            <a:r>
              <a:rPr lang="es-ES" sz="2400" b="1"/>
              <a:t>BEGIN</a:t>
            </a:r>
            <a:r>
              <a:rPr lang="es-ES" sz="2400"/>
              <a:t> y </a:t>
            </a:r>
            <a:r>
              <a:rPr lang="es-ES" sz="2400" b="1"/>
              <a:t>END</a:t>
            </a:r>
            <a:r>
              <a:rPr lang="es-ES" sz="2400"/>
              <a:t>. </a:t>
            </a:r>
            <a:endParaRPr lang="es-ES" sz="2400"/>
          </a:p>
          <a:p>
            <a:pPr algn="just">
              <a:lnSpc>
                <a:spcPct val="80000"/>
              </a:lnSpc>
            </a:pPr>
            <a:r>
              <a:rPr lang="es-ES" sz="2400" b="1"/>
              <a:t>lista_sentencias</a:t>
            </a:r>
            <a:r>
              <a:rPr lang="es-ES" sz="2400"/>
              <a:t> es una lista de una o más sentencias. </a:t>
            </a:r>
            <a:endParaRPr lang="es-ES" sz="2400"/>
          </a:p>
          <a:p>
            <a:pPr algn="just">
              <a:lnSpc>
                <a:spcPct val="80000"/>
              </a:lnSpc>
            </a:pPr>
            <a:r>
              <a:rPr lang="es-ES" sz="2400"/>
              <a:t>Cada sentencia dentro de </a:t>
            </a:r>
            <a:r>
              <a:rPr lang="es-ES" sz="2400" b="1"/>
              <a:t>lista_sentencias</a:t>
            </a:r>
            <a:r>
              <a:rPr lang="es-ES" sz="2400"/>
              <a:t> debe terminar con un punto y como (</a:t>
            </a:r>
            <a:r>
              <a:rPr lang="es-ES" sz="2400" b="1" u="sng"/>
              <a:t>;</a:t>
            </a:r>
            <a:r>
              <a:rPr lang="es-ES" sz="2400"/>
              <a:t>) delimitador de sentencias. </a:t>
            </a:r>
            <a:endParaRPr lang="es-ES" sz="24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3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268413"/>
            <a:ext cx="10972800" cy="452596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s-ES" sz="2400" b="1"/>
              <a:t>DECLARE</a:t>
            </a:r>
            <a:endParaRPr lang="es-ES" sz="2400" b="1"/>
          </a:p>
          <a:p>
            <a:pPr>
              <a:lnSpc>
                <a:spcPct val="90000"/>
              </a:lnSpc>
              <a:buFontTx/>
              <a:buNone/>
            </a:pPr>
            <a:endParaRPr lang="es-ES" sz="2400" b="1"/>
          </a:p>
          <a:p>
            <a:pPr>
              <a:lnSpc>
                <a:spcPct val="90000"/>
              </a:lnSpc>
            </a:pPr>
            <a:r>
              <a:rPr lang="es-ES" sz="2400"/>
              <a:t>El comando </a:t>
            </a:r>
            <a:r>
              <a:rPr lang="es-ES" sz="2400" b="1">
                <a:solidFill>
                  <a:srgbClr val="FFFF00"/>
                </a:solidFill>
              </a:rPr>
              <a:t>DECLARE</a:t>
            </a:r>
            <a:r>
              <a:rPr lang="es-ES" sz="2400">
                <a:solidFill>
                  <a:srgbClr val="FFFF00"/>
                </a:solidFill>
              </a:rPr>
              <a:t> se usa para definir variables</a:t>
            </a:r>
            <a:r>
              <a:rPr lang="es-ES" sz="2400"/>
              <a:t> locales que se utilizarán dentro de los PA.</a:t>
            </a:r>
            <a:endParaRPr lang="es-ES" sz="2400"/>
          </a:p>
          <a:p>
            <a:pPr>
              <a:lnSpc>
                <a:spcPct val="90000"/>
              </a:lnSpc>
            </a:pPr>
            <a:r>
              <a:rPr lang="es-ES" sz="2400" b="1"/>
              <a:t>DECLARE</a:t>
            </a:r>
            <a:r>
              <a:rPr lang="es-ES" sz="2400"/>
              <a:t> puede usarse sólo dentro de comandos compuestos </a:t>
            </a:r>
            <a:r>
              <a:rPr lang="es-ES" sz="2400" b="1"/>
              <a:t>BEGIN ... END</a:t>
            </a:r>
            <a:r>
              <a:rPr lang="es-ES" sz="2400"/>
              <a:t> y deben ser su inicio, antes de cualquier otro comando. </a:t>
            </a:r>
            <a:endParaRPr lang="es-ES" sz="2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idx="1"/>
          </p:nvPr>
        </p:nvSpPr>
        <p:spPr>
          <a:xfrm>
            <a:off x="931333" y="1067491"/>
            <a:ext cx="11260667" cy="4525963"/>
          </a:xfrm>
        </p:spPr>
        <p:txBody>
          <a:bodyPr>
            <a:normAutofit fontScale="85000" lnSpcReduction="20000"/>
          </a:bodyPr>
          <a:lstStyle/>
          <a:p>
            <a:pPr>
              <a:buFontTx/>
              <a:buNone/>
            </a:pPr>
            <a:r>
              <a:rPr lang="es-ES" sz="2400" b="1" dirty="0"/>
              <a:t>CREATE PROCEDURE </a:t>
            </a:r>
            <a:r>
              <a:rPr lang="es-ES" sz="2400" b="1" dirty="0" err="1"/>
              <a:t>sp_name</a:t>
            </a:r>
            <a:r>
              <a:rPr lang="es-ES" sz="2400" b="1" dirty="0"/>
              <a:t> ([ </a:t>
            </a:r>
            <a:r>
              <a:rPr lang="es-ES" sz="2400" b="1" dirty="0" err="1"/>
              <a:t>parameter</a:t>
            </a:r>
            <a:r>
              <a:rPr lang="es-ES" sz="2400" b="1" dirty="0"/>
              <a:t>[ ,…] ] )</a:t>
            </a:r>
            <a:endParaRPr lang="es-ES" sz="2400" b="1" dirty="0"/>
          </a:p>
          <a:p>
            <a:pPr>
              <a:buFontTx/>
              <a:buNone/>
            </a:pPr>
            <a:endParaRPr lang="es-ES" sz="2400" b="1" dirty="0">
              <a:solidFill>
                <a:schemeClr val="folHlink"/>
              </a:solidFill>
            </a:endParaRPr>
          </a:p>
          <a:p>
            <a:pPr>
              <a:buFontTx/>
              <a:buNone/>
            </a:pPr>
            <a:r>
              <a:rPr lang="es-ES" sz="2400" b="1" dirty="0"/>
              <a:t>Begin</a:t>
            </a:r>
            <a:endParaRPr lang="es-ES" sz="2400" b="1" dirty="0"/>
          </a:p>
          <a:p>
            <a:pPr>
              <a:buFontTx/>
              <a:buNone/>
            </a:pPr>
            <a:r>
              <a:rPr lang="es-ES" sz="2400" b="1" dirty="0">
                <a:solidFill>
                  <a:schemeClr val="accent1"/>
                </a:solidFill>
              </a:rPr>
              <a:t>Declare…</a:t>
            </a:r>
            <a:endParaRPr lang="es-ES" sz="2400" b="1" dirty="0">
              <a:solidFill>
                <a:schemeClr val="accent1"/>
              </a:solidFill>
            </a:endParaRPr>
          </a:p>
          <a:p>
            <a:pPr>
              <a:buFontTx/>
              <a:buNone/>
            </a:pPr>
            <a:r>
              <a:rPr lang="es-ES" sz="2400" b="1" dirty="0"/>
              <a:t>…</a:t>
            </a:r>
            <a:endParaRPr lang="es-ES" sz="2400" b="1" dirty="0"/>
          </a:p>
          <a:p>
            <a:pPr>
              <a:buFontTx/>
              <a:buNone/>
            </a:pPr>
            <a:r>
              <a:rPr lang="es-ES" sz="2400" b="1" dirty="0" err="1"/>
              <a:t>End</a:t>
            </a:r>
            <a:endParaRPr lang="es-ES" sz="2400" b="1" dirty="0"/>
          </a:p>
          <a:p>
            <a:endParaRPr lang="es-ES" sz="2400" dirty="0"/>
          </a:p>
          <a:p>
            <a:r>
              <a:rPr lang="es-ES" sz="2400" dirty="0">
                <a:solidFill>
                  <a:schemeClr val="folHlink"/>
                </a:solidFill>
              </a:rPr>
              <a:t>Bloque Cabecera</a:t>
            </a:r>
            <a:endParaRPr lang="es-ES" sz="2400" dirty="0">
              <a:solidFill>
                <a:schemeClr val="folHlink"/>
              </a:solidFill>
            </a:endParaRPr>
          </a:p>
          <a:p>
            <a:r>
              <a:rPr lang="es-ES" sz="2400" dirty="0"/>
              <a:t>Bloque de Ejecución</a:t>
            </a:r>
            <a:endParaRPr lang="es-ES" sz="2400" dirty="0"/>
          </a:p>
          <a:p>
            <a:r>
              <a:rPr lang="es-ES" sz="2400" dirty="0">
                <a:solidFill>
                  <a:schemeClr val="accent1"/>
                </a:solidFill>
              </a:rPr>
              <a:t>Bloque de Declaración</a:t>
            </a:r>
            <a:endParaRPr lang="es-ES" sz="2400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/>
          <p:nvPr/>
        </p:nvPicPr>
        <p:blipFill>
          <a:blip r:embed="rId1"/>
          <a:srcRect l="27495" t="35347" r="27359" b="33535"/>
          <a:stretch>
            <a:fillRect/>
          </a:stretch>
        </p:blipFill>
        <p:spPr bwMode="auto">
          <a:xfrm>
            <a:off x="1099931" y="1287029"/>
            <a:ext cx="9992138" cy="47255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Rectangle 3"/>
          <p:cNvSpPr>
            <a:spLocks noGrp="1" noChangeArrowheads="1"/>
          </p:cNvSpPr>
          <p:nvPr>
            <p:ph idx="1"/>
          </p:nvPr>
        </p:nvSpPr>
        <p:spPr>
          <a:xfrm>
            <a:off x="594784" y="990601"/>
            <a:ext cx="10972800" cy="452596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s-ES" sz="2800" b="1"/>
              <a:t>Como se invocan???</a:t>
            </a:r>
            <a:endParaRPr lang="es-ES" sz="2800" b="1"/>
          </a:p>
          <a:p>
            <a:pPr>
              <a:lnSpc>
                <a:spcPct val="90000"/>
              </a:lnSpc>
            </a:pPr>
            <a:endParaRPr lang="es-ES" sz="2800" b="1"/>
          </a:p>
          <a:p>
            <a:pPr>
              <a:lnSpc>
                <a:spcPct val="90000"/>
              </a:lnSpc>
              <a:buFontTx/>
              <a:buNone/>
            </a:pPr>
            <a:endParaRPr lang="es-ES" sz="2800"/>
          </a:p>
          <a:p>
            <a:pPr>
              <a:lnSpc>
                <a:spcPct val="90000"/>
              </a:lnSpc>
            </a:pPr>
            <a:r>
              <a:rPr lang="es-ES" sz="2800" b="1">
                <a:solidFill>
                  <a:srgbClr val="FFFF00"/>
                </a:solidFill>
                <a:highlight>
                  <a:srgbClr val="000000"/>
                </a:highlight>
              </a:rPr>
              <a:t>PROCEDURE</a:t>
            </a:r>
            <a:r>
              <a:rPr lang="es-ES" sz="2800">
                <a:solidFill>
                  <a:srgbClr val="FFFF00"/>
                </a:solidFill>
                <a:highlight>
                  <a:srgbClr val="000000"/>
                </a:highlight>
              </a:rPr>
              <a:t>:  sentencia </a:t>
            </a:r>
            <a:r>
              <a:rPr lang="es-ES" sz="2800" b="1">
                <a:solidFill>
                  <a:srgbClr val="FFFF00"/>
                </a:solidFill>
                <a:highlight>
                  <a:srgbClr val="000000"/>
                </a:highlight>
              </a:rPr>
              <a:t>call</a:t>
            </a:r>
            <a:endParaRPr lang="es-ES" sz="2800"/>
          </a:p>
          <a:p>
            <a:pPr>
              <a:lnSpc>
                <a:spcPct val="90000"/>
              </a:lnSpc>
            </a:pPr>
            <a:r>
              <a:rPr lang="es-ES" sz="2800"/>
              <a:t>mysql&gt; call nombre_del_procedimiento();</a:t>
            </a:r>
            <a:br>
              <a:rPr lang="es-ES" sz="2800"/>
            </a:br>
            <a:endParaRPr lang="es-ES" sz="2800"/>
          </a:p>
          <a:p>
            <a:pPr>
              <a:lnSpc>
                <a:spcPct val="90000"/>
              </a:lnSpc>
            </a:pPr>
            <a:r>
              <a:rPr lang="es-ES" sz="2800" b="1">
                <a:solidFill>
                  <a:srgbClr val="FFFF00"/>
                </a:solidFill>
                <a:highlight>
                  <a:srgbClr val="000000"/>
                </a:highlight>
              </a:rPr>
              <a:t>FUNCTION</a:t>
            </a:r>
            <a:r>
              <a:rPr lang="es-ES" sz="2800">
                <a:solidFill>
                  <a:srgbClr val="FFFF00"/>
                </a:solidFill>
                <a:highlight>
                  <a:srgbClr val="000000"/>
                </a:highlight>
              </a:rPr>
              <a:t>: </a:t>
            </a:r>
            <a:r>
              <a:rPr lang="es-ES" sz="2800" b="1">
                <a:solidFill>
                  <a:srgbClr val="FFFF00"/>
                </a:solidFill>
                <a:highlight>
                  <a:srgbClr val="000000"/>
                </a:highlight>
              </a:rPr>
              <a:t>select</a:t>
            </a:r>
            <a:endParaRPr lang="es-ES" sz="280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lnSpc>
                <a:spcPct val="90000"/>
              </a:lnSpc>
            </a:pPr>
            <a:r>
              <a:rPr lang="es-ES" sz="2800"/>
              <a:t>mysql&gt; select nombre_funcion(); </a:t>
            </a:r>
            <a:endParaRPr lang="es-ES" sz="2800"/>
          </a:p>
          <a:p>
            <a:pPr>
              <a:lnSpc>
                <a:spcPct val="90000"/>
              </a:lnSpc>
            </a:pPr>
            <a:endParaRPr lang="es-ES" sz="2800"/>
          </a:p>
          <a:p>
            <a:pPr>
              <a:lnSpc>
                <a:spcPct val="90000"/>
              </a:lnSpc>
            </a:pPr>
            <a:r>
              <a:rPr lang="es-ES" sz="2800" b="1"/>
              <a:t>TRIGGER</a:t>
            </a:r>
            <a:r>
              <a:rPr lang="es-ES" sz="2800"/>
              <a:t>: no se invoca</a:t>
            </a:r>
            <a:endParaRPr lang="es-ES" sz="2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7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908051"/>
            <a:ext cx="10972800" cy="45259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s-ES"/>
              <a:t>Recordando…</a:t>
            </a:r>
            <a:endParaRPr lang="es-ES"/>
          </a:p>
          <a:p>
            <a:pPr>
              <a:lnSpc>
                <a:spcPct val="80000"/>
              </a:lnSpc>
              <a:buFontTx/>
              <a:buNone/>
            </a:pPr>
            <a:endParaRPr lang="es-ES"/>
          </a:p>
          <a:p>
            <a:pPr>
              <a:lnSpc>
                <a:spcPct val="80000"/>
              </a:lnSpc>
            </a:pPr>
            <a:r>
              <a:rPr lang="es-ES" b="1"/>
              <a:t>Funciones SQL estándar.</a:t>
            </a:r>
            <a:endParaRPr lang="es-ES" b="1"/>
          </a:p>
          <a:p>
            <a:pPr>
              <a:lnSpc>
                <a:spcPct val="80000"/>
              </a:lnSpc>
            </a:pPr>
            <a:r>
              <a:rPr lang="es-ES"/>
              <a:t>Clasificación:</a:t>
            </a:r>
            <a:endParaRPr lang="es-ES"/>
          </a:p>
          <a:p>
            <a:pPr lvl="1">
              <a:lnSpc>
                <a:spcPct val="80000"/>
              </a:lnSpc>
            </a:pPr>
            <a:r>
              <a:rPr lang="es-ES"/>
              <a:t>Funciones Numéricas.</a:t>
            </a:r>
            <a:endParaRPr lang="es-ES"/>
          </a:p>
          <a:p>
            <a:pPr lvl="1">
              <a:lnSpc>
                <a:spcPct val="80000"/>
              </a:lnSpc>
            </a:pPr>
            <a:r>
              <a:rPr lang="es-ES"/>
              <a:t>Agregación.</a:t>
            </a:r>
            <a:endParaRPr lang="es-ES"/>
          </a:p>
          <a:p>
            <a:pPr lvl="1">
              <a:lnSpc>
                <a:spcPct val="80000"/>
              </a:lnSpc>
            </a:pPr>
            <a:r>
              <a:rPr lang="es-ES"/>
              <a:t>Fecha y Hora.</a:t>
            </a:r>
            <a:endParaRPr lang="es-ES"/>
          </a:p>
          <a:p>
            <a:pPr lvl="1">
              <a:lnSpc>
                <a:spcPct val="80000"/>
              </a:lnSpc>
            </a:pPr>
            <a:r>
              <a:rPr lang="es-ES"/>
              <a:t>Cadena de caracteres.</a:t>
            </a:r>
            <a:endParaRPr lang="es-ES"/>
          </a:p>
          <a:p>
            <a:pPr lvl="1">
              <a:lnSpc>
                <a:spcPct val="80000"/>
              </a:lnSpc>
            </a:pPr>
            <a:r>
              <a:rPr lang="es-ES"/>
              <a:t>Otras.</a:t>
            </a:r>
            <a:endParaRPr lang="es-ES"/>
          </a:p>
          <a:p>
            <a:pPr lvl="1">
              <a:lnSpc>
                <a:spcPct val="80000"/>
              </a:lnSpc>
            </a:pPr>
            <a:endParaRPr lang="es-ES"/>
          </a:p>
          <a:p>
            <a:pPr>
              <a:lnSpc>
                <a:spcPct val="80000"/>
              </a:lnSpc>
            </a:pPr>
            <a:r>
              <a:rPr lang="es-ES"/>
              <a:t>Investigar sobre fns. SQL estándar.</a:t>
            </a:r>
            <a:endParaRPr lang="es-E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2565401"/>
            <a:ext cx="10972800" cy="4525963"/>
          </a:xfrm>
        </p:spPr>
        <p:txBody>
          <a:bodyPr/>
          <a:lstStyle/>
          <a:p>
            <a:r>
              <a:rPr lang="es-ES" sz="3600"/>
              <a:t>Funciones definidas por el usuario</a:t>
            </a:r>
            <a:endParaRPr lang="es-ES" sz="3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1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487363"/>
            <a:ext cx="10972800" cy="452596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s-ES" sz="2400"/>
              <a:t>Sintaxis:</a:t>
            </a:r>
            <a:endParaRPr lang="es-ES" sz="2400"/>
          </a:p>
          <a:p>
            <a:pPr>
              <a:lnSpc>
                <a:spcPct val="90000"/>
              </a:lnSpc>
            </a:pPr>
            <a:endParaRPr lang="es-ES" sz="2400"/>
          </a:p>
          <a:p>
            <a:pPr>
              <a:lnSpc>
                <a:spcPct val="90000"/>
              </a:lnSpc>
            </a:pPr>
            <a:r>
              <a:rPr lang="es-ES" sz="2400" b="1"/>
              <a:t>CREATE FUNCTION sp_name ([parameter[,...]]) RETURNS type  routine_body </a:t>
            </a:r>
            <a:endParaRPr lang="es-ES" sz="2400" b="1"/>
          </a:p>
          <a:p>
            <a:pPr>
              <a:lnSpc>
                <a:spcPct val="90000"/>
              </a:lnSpc>
            </a:pPr>
            <a:endParaRPr lang="es-ES" sz="2400" b="1"/>
          </a:p>
          <a:p>
            <a:pPr>
              <a:lnSpc>
                <a:spcPct val="90000"/>
              </a:lnSpc>
            </a:pPr>
            <a:r>
              <a:rPr lang="es-ES" sz="2400"/>
              <a:t>Una funcion (FUNCTION) es un procedimiento almacenado (PROCEDURE). </a:t>
            </a:r>
            <a:endParaRPr lang="es-ES" sz="2400"/>
          </a:p>
          <a:p>
            <a:pPr>
              <a:lnSpc>
                <a:spcPct val="90000"/>
              </a:lnSpc>
            </a:pPr>
            <a:r>
              <a:rPr lang="es-ES" sz="2400"/>
              <a:t>Difieren de los procedimientos en: </a:t>
            </a:r>
            <a:endParaRPr lang="es-ES" sz="2400"/>
          </a:p>
          <a:p>
            <a:pPr>
              <a:lnSpc>
                <a:spcPct val="90000"/>
              </a:lnSpc>
            </a:pPr>
            <a:r>
              <a:rPr lang="es-ES" sz="2400">
                <a:solidFill>
                  <a:srgbClr val="FFFF00"/>
                </a:solidFill>
              </a:rPr>
              <a:t>La lista de parámetros solo puede contener parámetros de entrada. </a:t>
            </a:r>
            <a:endParaRPr lang="es-ES" sz="2400">
              <a:solidFill>
                <a:srgbClr val="FFFF00"/>
              </a:solidFill>
            </a:endParaRPr>
          </a:p>
          <a:p>
            <a:pPr>
              <a:lnSpc>
                <a:spcPct val="90000"/>
              </a:lnSpc>
            </a:pPr>
            <a:r>
              <a:rPr lang="es-ES" sz="2400">
                <a:solidFill>
                  <a:srgbClr val="FFFF00"/>
                </a:solidFill>
              </a:rPr>
              <a:t>IN, OUT o INOUT es solo válido para PA.</a:t>
            </a:r>
            <a:endParaRPr lang="es-ES" sz="2400">
              <a:solidFill>
                <a:srgbClr val="FFFF00"/>
              </a:solidFill>
            </a:endParaRPr>
          </a:p>
          <a:p>
            <a:pPr>
              <a:lnSpc>
                <a:spcPct val="90000"/>
              </a:lnSpc>
            </a:pPr>
            <a:r>
              <a:rPr lang="es-ES" sz="2400"/>
              <a:t>Una funcion siempre debe retornar un valor del tipo definido en la declaracion de la funcion. </a:t>
            </a:r>
            <a:endParaRPr lang="es-ES" sz="2400"/>
          </a:p>
          <a:p>
            <a:pPr>
              <a:lnSpc>
                <a:spcPct val="90000"/>
              </a:lnSpc>
            </a:pPr>
            <a:r>
              <a:rPr lang="es-ES" sz="2400"/>
              <a:t>Las fns. pueden ser llamadas dentro de sentencias sql</a:t>
            </a:r>
            <a:endParaRPr lang="es-ES" sz="2400"/>
          </a:p>
          <a:p>
            <a:pPr>
              <a:lnSpc>
                <a:spcPct val="90000"/>
              </a:lnSpc>
            </a:pPr>
            <a:r>
              <a:rPr lang="es-ES" sz="2400"/>
              <a:t>Una funcion no puede devolver un registro de datos.</a:t>
            </a:r>
            <a:endParaRPr lang="es-ES" sz="2400"/>
          </a:p>
          <a:p>
            <a:pPr>
              <a:lnSpc>
                <a:spcPct val="90000"/>
              </a:lnSpc>
            </a:pPr>
            <a:endParaRPr lang="es-ES" sz="2400"/>
          </a:p>
          <a:p>
            <a:pPr>
              <a:lnSpc>
                <a:spcPct val="90000"/>
              </a:lnSpc>
            </a:pPr>
            <a:endParaRPr lang="es-ES" sz="2400"/>
          </a:p>
          <a:p>
            <a:pPr>
              <a:lnSpc>
                <a:spcPct val="90000"/>
              </a:lnSpc>
            </a:pPr>
            <a:endParaRPr lang="es-ES" sz="2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409" y="1311878"/>
            <a:ext cx="9248109" cy="37902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366" y="1855926"/>
            <a:ext cx="9410830" cy="34581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2863851"/>
            <a:ext cx="10972800" cy="4525963"/>
          </a:xfrm>
        </p:spPr>
        <p:txBody>
          <a:bodyPr/>
          <a:lstStyle/>
          <a:p>
            <a:pPr>
              <a:buFontTx/>
              <a:buNone/>
            </a:pPr>
            <a:endParaRPr lang="es-ES" sz="3600" b="1" dirty="0"/>
          </a:p>
          <a:p>
            <a:endParaRPr lang="es-ES" sz="3600" dirty="0"/>
          </a:p>
        </p:txBody>
      </p:sp>
      <p:sp>
        <p:nvSpPr>
          <p:cNvPr id="2" name="Rectángulo 1"/>
          <p:cNvSpPr/>
          <p:nvPr/>
        </p:nvSpPr>
        <p:spPr>
          <a:xfrm>
            <a:off x="609535" y="2676869"/>
            <a:ext cx="9086462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5400" b="1" dirty="0"/>
              <a:t>Algunas estructuras de control.</a:t>
            </a:r>
            <a:endParaRPr lang="es-ES" sz="540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idx="1"/>
          </p:nvPr>
        </p:nvSpPr>
        <p:spPr>
          <a:xfrm>
            <a:off x="609600" y="1052513"/>
            <a:ext cx="10972800" cy="452596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s-ES" sz="2400" b="1"/>
              <a:t>BLOQUE IF</a:t>
            </a:r>
            <a:br>
              <a:rPr lang="es-ES" sz="2400" b="1"/>
            </a:br>
            <a:endParaRPr lang="es-ES" sz="2400" b="1"/>
          </a:p>
          <a:p>
            <a:pPr>
              <a:lnSpc>
                <a:spcPct val="90000"/>
              </a:lnSpc>
              <a:buFontTx/>
              <a:buNone/>
            </a:pPr>
            <a:endParaRPr lang="es-ES" sz="2400" b="1"/>
          </a:p>
          <a:p>
            <a:pPr>
              <a:lnSpc>
                <a:spcPct val="90000"/>
              </a:lnSpc>
              <a:buFontTx/>
              <a:buNone/>
            </a:pPr>
            <a:r>
              <a:rPr lang="es-ES" sz="2400" b="1"/>
              <a:t>IF </a:t>
            </a:r>
            <a:r>
              <a:rPr lang="es-ES" sz="2400"/>
              <a:t>expresión</a:t>
            </a:r>
            <a:r>
              <a:rPr lang="es-ES" sz="2400" b="1"/>
              <a:t> THEN …</a:t>
            </a:r>
            <a:endParaRPr lang="es-ES" sz="2400" b="1"/>
          </a:p>
          <a:p>
            <a:pPr>
              <a:lnSpc>
                <a:spcPct val="90000"/>
              </a:lnSpc>
              <a:buFontTx/>
              <a:buNone/>
            </a:pPr>
            <a:r>
              <a:rPr lang="es-ES" sz="2400" b="1"/>
              <a:t>ELSE …</a:t>
            </a:r>
            <a:endParaRPr lang="es-ES" sz="2400" b="1"/>
          </a:p>
          <a:p>
            <a:pPr>
              <a:lnSpc>
                <a:spcPct val="90000"/>
              </a:lnSpc>
              <a:buFontTx/>
              <a:buNone/>
            </a:pPr>
            <a:r>
              <a:rPr lang="es-ES" sz="2400" b="1"/>
              <a:t>… </a:t>
            </a:r>
            <a:endParaRPr lang="es-ES" sz="2400"/>
          </a:p>
          <a:p>
            <a:pPr>
              <a:lnSpc>
                <a:spcPct val="90000"/>
              </a:lnSpc>
              <a:buFontTx/>
              <a:buNone/>
            </a:pPr>
            <a:r>
              <a:rPr lang="es-ES" sz="2400" b="1"/>
              <a:t>END IF; </a:t>
            </a:r>
            <a:br>
              <a:rPr lang="es-ES" sz="2400" b="1"/>
            </a:br>
            <a:endParaRPr lang="en-US" sz="2400" b="1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idx="1"/>
          </p:nvPr>
        </p:nvSpPr>
        <p:spPr>
          <a:xfrm>
            <a:off x="609600" y="1135063"/>
            <a:ext cx="10972800" cy="452596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s-ES" sz="2400" b="1"/>
              <a:t>WHILE</a:t>
            </a:r>
            <a:br>
              <a:rPr lang="es-ES" sz="2400"/>
            </a:br>
            <a:endParaRPr lang="es-ES" sz="2400"/>
          </a:p>
          <a:p>
            <a:pPr>
              <a:lnSpc>
                <a:spcPct val="80000"/>
              </a:lnSpc>
            </a:pP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WHILE </a:t>
            </a:r>
            <a:r>
              <a:rPr lang="es-ES" sz="2400"/>
              <a:t>expresión </a:t>
            </a:r>
            <a:r>
              <a:rPr lang="es-ES" sz="2400" b="1"/>
              <a:t>DO </a:t>
            </a:r>
            <a:r>
              <a:rPr lang="es-ES" sz="2400"/>
              <a:t>  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/>
              <a:t> -- contenido del bucle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END WHILE</a:t>
            </a:r>
            <a:r>
              <a:rPr lang="es-ES" sz="2400"/>
              <a:t>; </a:t>
            </a:r>
            <a:br>
              <a:rPr lang="es-ES" sz="2400"/>
            </a:br>
            <a:endParaRPr lang="en-US" sz="24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5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981076"/>
            <a:ext cx="10972800" cy="4525963"/>
          </a:xfrm>
        </p:spPr>
        <p:txBody>
          <a:bodyPr/>
          <a:lstStyle/>
          <a:p>
            <a:r>
              <a:rPr lang="es-ES" sz="2400" b="1"/>
              <a:t>REPEAT – UNTIL</a:t>
            </a:r>
            <a:endParaRPr lang="es-ES" sz="2400" b="1"/>
          </a:p>
          <a:p>
            <a:pPr>
              <a:buFontTx/>
              <a:buNone/>
            </a:pPr>
            <a:endParaRPr lang="es-ES" sz="2400"/>
          </a:p>
          <a:p>
            <a:pPr>
              <a:buFontTx/>
              <a:buNone/>
            </a:pPr>
            <a:endParaRPr lang="es-ES" sz="2400"/>
          </a:p>
          <a:p>
            <a:pPr>
              <a:buFontTx/>
              <a:buNone/>
            </a:pPr>
            <a:r>
              <a:rPr lang="es-ES" sz="2400" b="1"/>
              <a:t>REPEAT </a:t>
            </a:r>
            <a:endParaRPr lang="es-ES" sz="2400" b="1"/>
          </a:p>
          <a:p>
            <a:pPr>
              <a:buFontTx/>
              <a:buNone/>
            </a:pPr>
            <a:r>
              <a:rPr lang="es-ES" sz="2400"/>
              <a:t>-- CODE DEL BUCLE </a:t>
            </a:r>
            <a:endParaRPr lang="es-ES" sz="2400"/>
          </a:p>
          <a:p>
            <a:pPr>
              <a:buFontTx/>
              <a:buNone/>
            </a:pPr>
            <a:r>
              <a:rPr lang="es-ES" sz="2400" b="1"/>
              <a:t>UNTIL</a:t>
            </a:r>
            <a:r>
              <a:rPr lang="es-ES" sz="2400"/>
              <a:t> variable &gt;= 1 </a:t>
            </a:r>
            <a:endParaRPr lang="es-ES" sz="2400"/>
          </a:p>
          <a:p>
            <a:pPr>
              <a:buFontTx/>
              <a:buNone/>
            </a:pPr>
            <a:r>
              <a:rPr lang="es-ES" sz="2400" b="1"/>
              <a:t>END REPEAT</a:t>
            </a:r>
            <a:r>
              <a:rPr lang="es-ES" sz="2400"/>
              <a:t>; </a:t>
            </a:r>
            <a:br>
              <a:rPr lang="es-ES" sz="2400"/>
            </a:br>
            <a:endParaRPr lang="es-ES" sz="24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9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052513"/>
            <a:ext cx="10972800" cy="452596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s-ES" sz="2400" b="1"/>
              <a:t>CASE</a:t>
            </a:r>
            <a:r>
              <a:rPr lang="es-ES" sz="2400"/>
              <a:t> (similar al </a:t>
            </a:r>
            <a:r>
              <a:rPr lang="es-ES" sz="2400" b="1"/>
              <a:t>SWITCH</a:t>
            </a:r>
            <a:r>
              <a:rPr lang="es-ES" sz="2400"/>
              <a:t> o </a:t>
            </a:r>
            <a:r>
              <a:rPr lang="es-ES" sz="2400" b="1"/>
              <a:t>SELEC CASE</a:t>
            </a:r>
            <a:r>
              <a:rPr lang="es-ES" sz="2400"/>
              <a:t> de algunos lenguajes de programación)</a:t>
            </a:r>
            <a:br>
              <a:rPr lang="es-ES" sz="2400"/>
            </a:br>
            <a:endParaRPr lang="es-ES" sz="2400"/>
          </a:p>
          <a:p>
            <a:pPr>
              <a:lnSpc>
                <a:spcPct val="80000"/>
              </a:lnSpc>
            </a:pPr>
            <a:endParaRPr lang="es-ES" sz="2400"/>
          </a:p>
          <a:p>
            <a:pPr>
              <a:lnSpc>
                <a:spcPct val="80000"/>
              </a:lnSpc>
            </a:pP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CASE </a:t>
            </a:r>
            <a:r>
              <a:rPr lang="es-ES" sz="2400"/>
              <a:t>variable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WHEN </a:t>
            </a:r>
            <a:r>
              <a:rPr lang="es-ES" sz="2400"/>
              <a:t>1 </a:t>
            </a:r>
            <a:r>
              <a:rPr lang="es-ES" sz="2400" b="1"/>
              <a:t>THEN </a:t>
            </a:r>
            <a:r>
              <a:rPr lang="es-ES" sz="2400"/>
              <a:t>-- que hacer en caso de que variable = 1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WHEN</a:t>
            </a:r>
            <a:r>
              <a:rPr lang="es-ES" sz="2400"/>
              <a:t> 2 </a:t>
            </a:r>
            <a:r>
              <a:rPr lang="es-ES" sz="2400" b="1"/>
              <a:t>THEN </a:t>
            </a:r>
            <a:r>
              <a:rPr lang="es-ES" sz="2400"/>
              <a:t>-- que hacer en caso de que variable = 2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WHEN</a:t>
            </a:r>
            <a:r>
              <a:rPr lang="es-ES" sz="2400"/>
              <a:t> x </a:t>
            </a:r>
            <a:r>
              <a:rPr lang="es-ES" sz="2400" b="1"/>
              <a:t>THEN</a:t>
            </a:r>
            <a:r>
              <a:rPr lang="es-ES" sz="2400"/>
              <a:t> -- que hacer en caso de que variable = x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ELSE</a:t>
            </a:r>
            <a:r>
              <a:rPr lang="es-ES" sz="2400"/>
              <a:t> -- que hacer en caso de que no se presente alguno de los casos anteriores </a:t>
            </a:r>
            <a:endParaRPr lang="es-ES" sz="2400"/>
          </a:p>
          <a:p>
            <a:pPr>
              <a:lnSpc>
                <a:spcPct val="80000"/>
              </a:lnSpc>
              <a:buFontTx/>
              <a:buNone/>
            </a:pPr>
            <a:r>
              <a:rPr lang="es-ES" sz="2400" b="1"/>
              <a:t>END CASE</a:t>
            </a:r>
            <a:r>
              <a:rPr lang="es-ES" sz="2400"/>
              <a:t>; </a:t>
            </a:r>
            <a:br>
              <a:rPr lang="es-ES" sz="2400"/>
            </a:br>
            <a:endParaRPr lang="es-ES" sz="24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/>
          <p:nvPr/>
        </p:nvPicPr>
        <p:blipFill>
          <a:blip r:embed="rId1"/>
          <a:srcRect l="27665" t="35045" r="27359" b="23263"/>
          <a:stretch>
            <a:fillRect/>
          </a:stretch>
        </p:blipFill>
        <p:spPr bwMode="auto">
          <a:xfrm>
            <a:off x="1583635" y="1096618"/>
            <a:ext cx="9024729" cy="46647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2667000" y="6858000"/>
            <a:ext cx="6858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900">
                <a:hlinkClick r:id="rId2" tooltip="https://es.wikiquote.org/wiki/Pregunta"/>
              </a:rPr>
              <a:t>Esta foto</a:t>
            </a:r>
            <a:r>
              <a:rPr lang="es-AR" sz="900"/>
              <a:t> de Autor desconocido está bajo licencia </a:t>
            </a:r>
            <a:r>
              <a:rPr lang="es-AR" sz="900">
                <a:hlinkClick r:id="rId3" tooltip="https://creativecommons.org/licenses/by-sa/3.0/"/>
              </a:rPr>
              <a:t>CC BY-SA</a:t>
            </a:r>
            <a:endParaRPr lang="es-AR" sz="90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8D1E14"/>
      </a:dk2>
      <a:lt2>
        <a:srgbClr val="FF744E"/>
      </a:lt2>
      <a:accent1>
        <a:srgbClr val="E9B758"/>
      </a:accent1>
      <a:accent2>
        <a:srgbClr val="FE8943"/>
      </a:accent2>
      <a:accent3>
        <a:srgbClr val="AEA27C"/>
      </a:accent3>
      <a:accent4>
        <a:srgbClr val="90B46E"/>
      </a:accent4>
      <a:accent5>
        <a:srgbClr val="71AEC1"/>
      </a:accent5>
      <a:accent6>
        <a:srgbClr val="C98DE7"/>
      </a:accent6>
      <a:hlink>
        <a:srgbClr val="FF7A22"/>
      </a:hlink>
      <a:folHlink>
        <a:srgbClr val="FDCD86"/>
      </a:folHlink>
    </a:clrScheme>
    <a:fontScheme name="Circuito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2000"/>
                <a:satMod val="150000"/>
                <a:lumMod val="15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0</TotalTime>
  <Words>7207</Words>
  <Application>WPS Presentation</Application>
  <PresentationFormat>Panorámica</PresentationFormat>
  <Paragraphs>224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9" baseType="lpstr">
      <vt:lpstr>Arial</vt:lpstr>
      <vt:lpstr>SimSun</vt:lpstr>
      <vt:lpstr>Wingdings</vt:lpstr>
      <vt:lpstr>Trebuchet MS</vt:lpstr>
      <vt:lpstr>Tw Cen MT</vt:lpstr>
      <vt:lpstr>Segoe Print</vt:lpstr>
      <vt:lpstr>Microsoft YaHei</vt:lpstr>
      <vt:lpstr>Arial Unicode MS</vt:lpstr>
      <vt:lpstr>Calibri</vt:lpstr>
      <vt:lpstr>Circuito</vt:lpstr>
      <vt:lpstr>Laboratorio de programación ii</vt:lpstr>
      <vt:lpstr>Que es un PA?</vt:lpstr>
      <vt:lpstr>Que es un PA?</vt:lpstr>
      <vt:lpstr>Ventajas</vt:lpstr>
      <vt:lpstr>Ventajas</vt:lpstr>
      <vt:lpstr>Ventajas</vt:lpstr>
      <vt:lpstr>Ventajas</vt:lpstr>
      <vt:lpstr>Rendimiento</vt:lpstr>
      <vt:lpstr>Rendimiento</vt:lpstr>
      <vt:lpstr>Rendimiento</vt:lpstr>
      <vt:lpstr>Rendimiento</vt:lpstr>
      <vt:lpstr>Rendimiento</vt:lpstr>
      <vt:lpstr>Marco de programación </vt:lpstr>
      <vt:lpstr>Marco de programación</vt:lpstr>
      <vt:lpstr>Marco de programación</vt:lpstr>
      <vt:lpstr>Seguridad </vt:lpstr>
      <vt:lpstr>Seguridad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Tecnicatura Universitaria en Desarrollo de software</dc:title>
  <dc:creator>Usuario</dc:creator>
  <cp:lastModifiedBy>Ema</cp:lastModifiedBy>
  <cp:revision>65</cp:revision>
  <dcterms:created xsi:type="dcterms:W3CDTF">2019-02-06T15:51:00Z</dcterms:created>
  <dcterms:modified xsi:type="dcterms:W3CDTF">2025-11-20T19:32:16Z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860A25008DE3448E8F9C1BCF2583EEB5_12</vt:lpwstr>
  </property>
  <property fmtid="{D5CDD505-2E9C-101B-9397-08002B2CF9AE}" pid="3" name="KSOProductBuildVer">
    <vt:lpwstr>2058-12.2.0.23155</vt:lpwstr>
  </property>
</Properties>
</file>